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sldIdLst>
    <p:sldId id="256" r:id="rId2"/>
    <p:sldId id="344" r:id="rId3"/>
    <p:sldId id="365" r:id="rId4"/>
    <p:sldId id="362" r:id="rId5"/>
    <p:sldId id="371" r:id="rId6"/>
    <p:sldId id="372" r:id="rId7"/>
    <p:sldId id="366" r:id="rId8"/>
    <p:sldId id="369" r:id="rId9"/>
    <p:sldId id="373" r:id="rId10"/>
    <p:sldId id="375" r:id="rId11"/>
    <p:sldId id="376" r:id="rId12"/>
    <p:sldId id="378" r:id="rId13"/>
    <p:sldId id="379" r:id="rId14"/>
    <p:sldId id="357" r:id="rId15"/>
    <p:sldId id="380" r:id="rId16"/>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48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49" autoAdjust="0"/>
  </p:normalViewPr>
  <p:slideViewPr>
    <p:cSldViewPr snapToGrid="0">
      <p:cViewPr varScale="1">
        <p:scale>
          <a:sx n="106" d="100"/>
          <a:sy n="106" d="100"/>
        </p:scale>
        <p:origin x="792" y="114"/>
      </p:cViewPr>
      <p:guideLst/>
    </p:cSldViewPr>
  </p:slideViewPr>
  <p:outlineViewPr>
    <p:cViewPr>
      <p:scale>
        <a:sx n="33" d="100"/>
        <a:sy n="33" d="100"/>
      </p:scale>
      <p:origin x="0" y="-320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7C2297-9FA8-42BE-B109-CEC29BB018B4}"/>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B2AF2A4D-A498-405F-A975-9A05744FE1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0A61699C-D57B-4DB5-B5CB-291A8AC8ED76}"/>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6130B543-FB32-4388-B164-759273F1999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DF7E5F9-0C5C-49F5-8160-C5AFB07912DD}"/>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913279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002BB4-6775-4611-9BE8-3243B4EE9570}"/>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3D91E02A-DD7E-484E-AFF8-F05E8C641678}"/>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46BC84E0-DECA-445F-ACD2-BEA9B1E42E05}"/>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C06E1EE2-8574-4CF3-9499-53C81AC8D31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AC6B02D-0E5A-4FFB-B8D1-867ECA497F52}"/>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3509431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E7DA1A-37E9-491E-8A2D-68D982321F22}"/>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F28155C0-A819-464C-987C-155877342F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12E2DB2D-1344-4544-AC4E-AF2540E78DDB}"/>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F4222821-D2C8-48A5-8F6F-700F9693F7C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9C0F811-CDCB-4CB0-89C4-119E5E17B30B}"/>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3244966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567608-0D01-48D1-A38E-48550DE8E871}"/>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005D979-6305-4E53-82D2-9A26C0BBAE8C}"/>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A07F9541-AE42-42FB-89E9-2A5095ED3BBE}"/>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E4FE5C79-7070-4BBD-96F3-4D853EE8983F}"/>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6" name="Marcador de pie de página 5">
            <a:extLst>
              <a:ext uri="{FF2B5EF4-FFF2-40B4-BE49-F238E27FC236}">
                <a16:creationId xmlns:a16="http://schemas.microsoft.com/office/drawing/2014/main" id="{9153D8C4-7733-499E-8BD7-CA12E80D8DB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07AAAE3-169A-4385-88EC-1879A4A92397}"/>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127032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9515EA-7041-4851-9DC3-B7DE58FE36DB}"/>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31DC1B1C-927B-48CB-A6DC-D1D34709EA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593F8ECF-3BAC-48CF-8552-EC12413F9170}"/>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E2964CFA-12CB-4FEF-A269-C838A67BF5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6C64830E-E038-41F4-A114-AE3597D88FA3}"/>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87CECF40-FD68-40EE-8C61-1EB2392EB3F8}"/>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8" name="Marcador de pie de página 7">
            <a:extLst>
              <a:ext uri="{FF2B5EF4-FFF2-40B4-BE49-F238E27FC236}">
                <a16:creationId xmlns:a16="http://schemas.microsoft.com/office/drawing/2014/main" id="{61B62EFF-F724-4679-AF45-0FDFF4F384BC}"/>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450AAE8-A2A8-468A-B534-3CA4A0181D88}"/>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2336363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D3D1A-E5B3-4AE6-83C1-1EFED122749D}"/>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E2B04AD4-59F0-4AEE-9304-DC84FBEE4D8F}"/>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4" name="Marcador de pie de página 3">
            <a:extLst>
              <a:ext uri="{FF2B5EF4-FFF2-40B4-BE49-F238E27FC236}">
                <a16:creationId xmlns:a16="http://schemas.microsoft.com/office/drawing/2014/main" id="{038AACF1-3199-4D56-8BC5-A8AFE3988776}"/>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78904655-D1F2-4EAA-B7C2-60F9B52BA240}"/>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2065998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4B9AF8F-CF0C-4B78-BF22-4B135E7C48A2}"/>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3" name="Marcador de pie de página 2">
            <a:extLst>
              <a:ext uri="{FF2B5EF4-FFF2-40B4-BE49-F238E27FC236}">
                <a16:creationId xmlns:a16="http://schemas.microsoft.com/office/drawing/2014/main" id="{993ED29A-9551-4554-A566-289EA6EF877E}"/>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5CBB75D-846F-4F58-8281-8FD876EC24FD}"/>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3421785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1D3FB7-7612-4C36-972F-71491BF0F19A}"/>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CCFAB85E-4DBB-4623-8EF0-144C036FB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5E8800DD-E929-4A46-AED7-3882520A3E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7D8EF2D-9197-452B-8EEB-805EFB285B66}"/>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6" name="Marcador de pie de página 5">
            <a:extLst>
              <a:ext uri="{FF2B5EF4-FFF2-40B4-BE49-F238E27FC236}">
                <a16:creationId xmlns:a16="http://schemas.microsoft.com/office/drawing/2014/main" id="{74258BDC-08FD-45F5-A1B7-8C4940D2DE8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1C6E5EB-D408-4D54-9797-463D32788535}"/>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173822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BC7281-08DA-44D8-8E2E-504CBB2BF400}"/>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A221E5B1-0B5C-46C9-9B18-F7022E015F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9D0F3D4F-402D-44F5-BD3C-6A04D6A76E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6CF7E4C-6150-4D39-8FC7-3E314219CFB8}"/>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6" name="Marcador de pie de página 5">
            <a:extLst>
              <a:ext uri="{FF2B5EF4-FFF2-40B4-BE49-F238E27FC236}">
                <a16:creationId xmlns:a16="http://schemas.microsoft.com/office/drawing/2014/main" id="{F2965C34-C4F2-4AFF-B125-D337F05EE56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D26FDEC-E6CF-4E73-8993-0107E2EA4CE2}"/>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3705906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B33F34-6A8A-47F3-97BF-C6DF3CD07E35}"/>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10BEE2D8-248B-4331-8AE3-1D4BDC9A7A34}"/>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D488150F-FBB6-4484-95F7-9AFDE261D3DA}"/>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8493E57E-5382-4524-8CC4-2C1BAA40CA3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8D459CE-1D87-4277-BACF-0919EFACB274}"/>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121740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0F4FF46-4434-42C7-9363-AB4F1520A8E7}"/>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789BA74-0053-4D43-B6D9-38B342B395E9}"/>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7FFC981E-0E6A-4D6B-B4AF-5F83CE6E9C1F}"/>
              </a:ext>
            </a:extLst>
          </p:cNvPr>
          <p:cNvSpPr>
            <a:spLocks noGrp="1"/>
          </p:cNvSpPr>
          <p:nvPr>
            <p:ph type="dt" sz="half" idx="10"/>
          </p:nvPr>
        </p:nvSpPr>
        <p:spPr/>
        <p:txBody>
          <a:body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2203AFD7-611E-4981-9CB0-326B649BD5C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94C54C4-0AAB-4941-BB14-D0CF063A5C72}"/>
              </a:ext>
            </a:extLst>
          </p:cNvPr>
          <p:cNvSpPr>
            <a:spLocks noGrp="1"/>
          </p:cNvSpPr>
          <p:nvPr>
            <p:ph type="sldNum" sz="quarter" idx="12"/>
          </p:nvPr>
        </p:nvSpPr>
        <p:spPr/>
        <p:txBody>
          <a:bodyPr/>
          <a:lstStyle/>
          <a:p>
            <a:fld id="{04EF272B-8E96-46A0-9E6E-0429FDB5489F}" type="slidenum">
              <a:rPr lang="es-MX" smtClean="0"/>
              <a:t>‹Nº›</a:t>
            </a:fld>
            <a:endParaRPr lang="es-MX"/>
          </a:p>
        </p:txBody>
      </p:sp>
    </p:spTree>
    <p:extLst>
      <p:ext uri="{BB962C8B-B14F-4D97-AF65-F5344CB8AC3E}">
        <p14:creationId xmlns:p14="http://schemas.microsoft.com/office/powerpoint/2010/main" val="4007235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2000"/>
            <a:lum/>
          </a:blip>
          <a:srcRect/>
          <a:stretch>
            <a:fillRect t="-3000" b="-3000"/>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F1BD8C84-BE8A-465E-AA4A-A780BA43A4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F24E6078-6304-4B13-86BD-BDC739D75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99F5EE37-2996-4834-BE63-972BB5B415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E85F9-1A61-426A-B6FC-53DBEBBF1C0A}" type="datetimeFigureOut">
              <a:rPr lang="es-MX" smtClean="0"/>
              <a:t>14/06/2026</a:t>
            </a:fld>
            <a:endParaRPr lang="es-MX"/>
          </a:p>
        </p:txBody>
      </p:sp>
      <p:sp>
        <p:nvSpPr>
          <p:cNvPr id="5" name="Marcador de pie de página 4">
            <a:extLst>
              <a:ext uri="{FF2B5EF4-FFF2-40B4-BE49-F238E27FC236}">
                <a16:creationId xmlns:a16="http://schemas.microsoft.com/office/drawing/2014/main" id="{A2113207-34F8-4481-A275-20A3CA66C2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1D92DA39-80EA-465E-BDB4-7E7817F22B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F272B-8E96-46A0-9E6E-0429FDB5489F}" type="slidenum">
              <a:rPr lang="es-MX" smtClean="0"/>
              <a:t>‹Nº›</a:t>
            </a:fld>
            <a:endParaRPr lang="es-MX"/>
          </a:p>
        </p:txBody>
      </p:sp>
    </p:spTree>
    <p:extLst>
      <p:ext uri="{BB962C8B-B14F-4D97-AF65-F5344CB8AC3E}">
        <p14:creationId xmlns:p14="http://schemas.microsoft.com/office/powerpoint/2010/main" val="1378868254"/>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B01D51D3-E126-4587-950C-8BE4B32AEB11}"/>
              </a:ext>
            </a:extLst>
          </p:cNvPr>
          <p:cNvSpPr>
            <a:spLocks noChangeArrowheads="1"/>
          </p:cNvSpPr>
          <p:nvPr/>
        </p:nvSpPr>
        <p:spPr bwMode="auto">
          <a:xfrm>
            <a:off x="2763074" y="1145759"/>
            <a:ext cx="6665843" cy="5442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Instituto Tecnológico de Frontera Comalapa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Materia: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lang="es-MX" altLang="es-MX" dirty="0">
                <a:latin typeface="Arial" panose="020B0604020202020204" pitchFamily="34" charset="0"/>
                <a:cs typeface="Arial" panose="020B0604020202020204" pitchFamily="34" charset="0"/>
              </a:rPr>
              <a:t>Programación Web</a:t>
            </a: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Octavo Semestre</a:t>
            </a:r>
            <a:endParaRPr kumimoji="0" lang="es-MX" altLang="es-MX"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Carrera: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Ingeniería en Sistemas Computacionales (mixta.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Nombres </a:t>
            </a:r>
            <a:r>
              <a:rPr lang="es-MX" altLang="es-MX" b="1" dirty="0">
                <a:latin typeface="Arial" panose="020B0604020202020204" pitchFamily="34" charset="0"/>
                <a:ea typeface="Calibri" panose="020F0502020204030204" pitchFamily="34" charset="0"/>
                <a:cs typeface="Arial" panose="020B0604020202020204" pitchFamily="34" charset="0"/>
              </a:rPr>
              <a:t>Alumno</a:t>
            </a: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lang="es-MX" altLang="es-MX" dirty="0">
                <a:latin typeface="Arial" panose="020B0604020202020204" pitchFamily="34" charset="0"/>
                <a:ea typeface="Calibri" panose="020F0502020204030204" pitchFamily="34" charset="0"/>
                <a:cs typeface="Arial" panose="020B0604020202020204" pitchFamily="34" charset="0"/>
              </a:rPr>
              <a:t>Aldrich Humberto Irena Ramírez  221260071</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 del docente:</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lang="es-MX" altLang="es-MX" dirty="0">
                <a:latin typeface="Arial" panose="020B0604020202020204" pitchFamily="34" charset="0"/>
                <a:cs typeface="Arial" panose="020B0604020202020204" pitchFamily="34" charset="0"/>
              </a:rPr>
              <a:t>Ing. Francisco Javier Mingo Velázquez</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1"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 del trabajo:</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lang="es-MX" altLang="es-MX" dirty="0">
                <a:latin typeface="Arial" panose="020B0604020202020204" pitchFamily="34" charset="0"/>
                <a:cs typeface="Arial" panose="020B0604020202020204" pitchFamily="34" charset="0"/>
              </a:rPr>
              <a:t>Actividad 4.2 Reporte de Practica.</a:t>
            </a:r>
            <a:endParaRPr kumimoji="0" lang="es-MX" altLang="es-MX" b="0" i="0" u="none" strike="noStrike" cap="none" normalizeH="0" baseline="0" dirty="0">
              <a:ln>
                <a:noFill/>
              </a:ln>
              <a:solidFill>
                <a:schemeClr val="tx1"/>
              </a:solidFill>
              <a:effectLst/>
            </a:endParaRPr>
          </a:p>
          <a:p>
            <a:pPr marL="0" marR="0" lvl="0" indent="0" algn="ctr" defTabSz="914400" rtl="0" eaLnBrk="0" fontAlgn="base" latinLnBrk="0" hangingPunct="0">
              <a:lnSpc>
                <a:spcPct val="150000"/>
              </a:lnSpc>
              <a:spcBef>
                <a:spcPct val="0"/>
              </a:spcBef>
              <a:spcAft>
                <a:spcPct val="0"/>
              </a:spcAft>
              <a:buClrTx/>
              <a:buSzTx/>
              <a:buFontTx/>
              <a:buNone/>
              <a:tabLst/>
            </a:pPr>
            <a:r>
              <a:rPr kumimoji="0" lang="es-MX" altLang="es-MX"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Frontera Comalapa, Chiapas a </a:t>
            </a:r>
            <a:r>
              <a:rPr lang="es-MX" altLang="es-MX" dirty="0">
                <a:latin typeface="Arial" panose="020B0604020202020204" pitchFamily="34" charset="0"/>
                <a:ea typeface="Calibri" panose="020F0502020204030204" pitchFamily="34" charset="0"/>
                <a:cs typeface="Arial" panose="020B0604020202020204" pitchFamily="34" charset="0"/>
              </a:rPr>
              <a:t>04</a:t>
            </a:r>
            <a:r>
              <a:rPr kumimoji="0" lang="es-MX" altLang="es-MX"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de Junio del 2026</a:t>
            </a:r>
            <a:endParaRPr kumimoji="0" lang="es-MX" altLang="es-MX" b="0" i="0" u="none" strike="noStrike" cap="none" normalizeH="0" baseline="0" dirty="0">
              <a:ln>
                <a:noFill/>
              </a:ln>
              <a:solidFill>
                <a:schemeClr val="tx1"/>
              </a:solidFill>
              <a:effectLst/>
              <a:latin typeface="Arial" panose="020B0604020202020204" pitchFamily="34" charset="0"/>
            </a:endParaRPr>
          </a:p>
        </p:txBody>
      </p:sp>
      <p:pic>
        <p:nvPicPr>
          <p:cNvPr id="6" name="Imagen 5">
            <a:extLst>
              <a:ext uri="{FF2B5EF4-FFF2-40B4-BE49-F238E27FC236}">
                <a16:creationId xmlns:a16="http://schemas.microsoft.com/office/drawing/2014/main" id="{F2EA8574-C0D5-4115-ADA5-66179F8386E1}"/>
              </a:ext>
            </a:extLst>
          </p:cNvPr>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22525" y="167750"/>
            <a:ext cx="2552700" cy="833120"/>
          </a:xfrm>
          <a:prstGeom prst="rect">
            <a:avLst/>
          </a:prstGeom>
          <a:noFill/>
          <a:ln>
            <a:noFill/>
          </a:ln>
        </p:spPr>
      </p:pic>
      <p:pic>
        <p:nvPicPr>
          <p:cNvPr id="7" name="Imagen 6">
            <a:extLst>
              <a:ext uri="{FF2B5EF4-FFF2-40B4-BE49-F238E27FC236}">
                <a16:creationId xmlns:a16="http://schemas.microsoft.com/office/drawing/2014/main" id="{C3CA822B-3EA0-4420-BE0D-93658F8AB1F6}"/>
              </a:ext>
            </a:extLst>
          </p:cNvPr>
          <p:cNvPicPr/>
          <p:nvPr/>
        </p:nvPicPr>
        <p:blipFill rotWithShape="1">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l="3305" t="7352" r="3338" b="7775"/>
          <a:stretch/>
        </p:blipFill>
        <p:spPr bwMode="auto">
          <a:xfrm>
            <a:off x="5127721" y="139284"/>
            <a:ext cx="2239645" cy="1006475"/>
          </a:xfrm>
          <a:prstGeom prst="rect">
            <a:avLst/>
          </a:prstGeom>
          <a:noFill/>
          <a:ln>
            <a:noFill/>
          </a:ln>
          <a:extLst>
            <a:ext uri="{53640926-AAD7-44D8-BBD7-CCE9431645EC}">
              <a14:shadowObscured xmlns:a14="http://schemas.microsoft.com/office/drawing/2010/main"/>
            </a:ext>
          </a:extLst>
        </p:spPr>
      </p:pic>
      <p:pic>
        <p:nvPicPr>
          <p:cNvPr id="8" name="Imagen 7" descr="TecNM | Tecnológico Nacional de México">
            <a:extLst>
              <a:ext uri="{FF2B5EF4-FFF2-40B4-BE49-F238E27FC236}">
                <a16:creationId xmlns:a16="http://schemas.microsoft.com/office/drawing/2014/main" id="{7E68F6FA-EF3D-4263-A1D7-F107DDCB04B6}"/>
              </a:ext>
            </a:extLst>
          </p:cNvPr>
          <p:cNvPicPr/>
          <p:nvPr/>
        </p:nvPicPr>
        <p:blipFill rotWithShape="1">
          <a:blip r:embed="rId5" cstate="print">
            <a:extLst>
              <a:ext uri="{28A0092B-C50C-407E-A947-70E740481C1C}">
                <a14:useLocalDpi xmlns:a14="http://schemas.microsoft.com/office/drawing/2010/main" val="0"/>
              </a:ext>
            </a:extLst>
          </a:blip>
          <a:srcRect t="4884" b="9388"/>
          <a:stretch/>
        </p:blipFill>
        <p:spPr bwMode="auto">
          <a:xfrm>
            <a:off x="9166367" y="33020"/>
            <a:ext cx="1809115" cy="1127760"/>
          </a:xfrm>
          <a:prstGeom prst="rect">
            <a:avLst/>
          </a:prstGeom>
          <a:noFill/>
          <a:ln>
            <a:noFill/>
          </a:ln>
          <a:extLst>
            <a:ext uri="{53640926-AAD7-44D8-BBD7-CCE9431645EC}">
              <a14:shadowObscured xmlns:a14="http://schemas.microsoft.com/office/drawing/2010/main"/>
            </a:ext>
          </a:extLst>
        </p:spPr>
      </p:pic>
      <p:cxnSp>
        <p:nvCxnSpPr>
          <p:cNvPr id="9" name="Conector recto 8">
            <a:extLst>
              <a:ext uri="{FF2B5EF4-FFF2-40B4-BE49-F238E27FC236}">
                <a16:creationId xmlns:a16="http://schemas.microsoft.com/office/drawing/2014/main" id="{C8FC135E-DAC0-4395-9A10-E40FF1E51DA9}"/>
              </a:ext>
            </a:extLst>
          </p:cNvPr>
          <p:cNvCxnSpPr>
            <a:cxnSpLocks/>
          </p:cNvCxnSpPr>
          <p:nvPr/>
        </p:nvCxnSpPr>
        <p:spPr>
          <a:xfrm>
            <a:off x="5127721" y="149761"/>
            <a:ext cx="0" cy="985520"/>
          </a:xfrm>
          <a:prstGeom prst="line">
            <a:avLst/>
          </a:prstGeom>
          <a:effectLst>
            <a:outerShdw blurRad="50800" dist="38100" dir="10800000" algn="r" rotWithShape="0">
              <a:prstClr val="black">
                <a:alpha val="40000"/>
              </a:prstClr>
            </a:outerShdw>
          </a:effectLst>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99652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F9F5-AD65-40E6-A7EA-0157D52FC819}"/>
              </a:ext>
            </a:extLst>
          </p:cNvPr>
          <p:cNvSpPr>
            <a:spLocks noGrp="1"/>
          </p:cNvSpPr>
          <p:nvPr>
            <p:ph type="title"/>
          </p:nvPr>
        </p:nvSpPr>
        <p:spPr>
          <a:xfrm>
            <a:off x="3322503" y="212431"/>
            <a:ext cx="5546986" cy="1448685"/>
          </a:xfrm>
        </p:spPr>
        <p:txBody>
          <a:bodyPr>
            <a:normAutofit/>
          </a:bodyPr>
          <a:lstStyle/>
          <a:p>
            <a:pPr algn="ctr"/>
            <a:r>
              <a:rPr lang="es-MX" sz="6000" dirty="0">
                <a:solidFill>
                  <a:srgbClr val="002060"/>
                </a:solidFill>
                <a:latin typeface="Algerian" panose="04020705040A02060702" pitchFamily="82" charset="0"/>
              </a:rPr>
              <a:t>Introducción</a:t>
            </a:r>
          </a:p>
        </p:txBody>
      </p:sp>
      <p:sp>
        <p:nvSpPr>
          <p:cNvPr id="3" name="CuadroTexto 2">
            <a:extLst>
              <a:ext uri="{FF2B5EF4-FFF2-40B4-BE49-F238E27FC236}">
                <a16:creationId xmlns:a16="http://schemas.microsoft.com/office/drawing/2014/main" id="{13931EC5-2480-411C-BC9A-2DEEDAB066E7}"/>
              </a:ext>
            </a:extLst>
          </p:cNvPr>
          <p:cNvSpPr txBox="1"/>
          <p:nvPr/>
        </p:nvSpPr>
        <p:spPr>
          <a:xfrm>
            <a:off x="516348" y="1418623"/>
            <a:ext cx="11159296" cy="3001334"/>
          </a:xfrm>
          <a:prstGeom prst="rect">
            <a:avLst/>
          </a:prstGeom>
          <a:noFill/>
        </p:spPr>
        <p:txBody>
          <a:bodyPr wrap="square" rtlCol="0">
            <a:spAutoFit/>
          </a:bodyPr>
          <a:lstStyle/>
          <a:p>
            <a:pPr algn="just">
              <a:lnSpc>
                <a:spcPct val="150000"/>
              </a:lnSpc>
            </a:pPr>
            <a:r>
              <a:rPr lang="es-ES" sz="1600" dirty="0">
                <a:latin typeface="Arial" panose="020B0604020202020204" pitchFamily="34" charset="0"/>
                <a:cs typeface="Arial" panose="020B0604020202020204" pitchFamily="34" charset="0"/>
              </a:rPr>
              <a:t>El presente informe detalla el tercer avance en el desarrollo de la plataforma web GYMPRO, un sistema integral diseñado para optimizar la administración y el control de usuarios en centros de acondicionamiento físico. Tras haber consolidado las bases del diseño en las etapas previas, este periodo se enfocó en la construcción del núcleo del sistema (el </a:t>
            </a:r>
            <a:r>
              <a:rPr lang="es-ES" sz="1600" dirty="0" err="1">
                <a:latin typeface="Arial" panose="020B0604020202020204" pitchFamily="34" charset="0"/>
                <a:cs typeface="Arial" panose="020B0604020202020204" pitchFamily="34" charset="0"/>
              </a:rPr>
              <a:t>backend</a:t>
            </a:r>
            <a:r>
              <a:rPr lang="es-ES" sz="1600" dirty="0">
                <a:latin typeface="Arial" panose="020B0604020202020204" pitchFamily="34" charset="0"/>
                <a:cs typeface="Arial" panose="020B0604020202020204" pitchFamily="34" charset="0"/>
              </a:rPr>
              <a:t>) y su conectividad con la interfaz de usuario (el </a:t>
            </a:r>
            <a:r>
              <a:rPr lang="es-ES" sz="1600" dirty="0" err="1">
                <a:latin typeface="Arial" panose="020B0604020202020204" pitchFamily="34" charset="0"/>
                <a:cs typeface="Arial" panose="020B0604020202020204" pitchFamily="34" charset="0"/>
              </a:rPr>
              <a:t>frontend</a:t>
            </a:r>
            <a:r>
              <a:rPr lang="es-ES" sz="1600" dirty="0">
                <a:latin typeface="Arial" panose="020B0604020202020204" pitchFamily="34" charset="0"/>
                <a:cs typeface="Arial" panose="020B0604020202020204" pitchFamily="34" charset="0"/>
              </a:rPr>
              <a:t>).A lo largo de este documento se presenta la implementación de una arquitectura robusta basada en el patrón por capas utilizando el ecosistema de Spring </a:t>
            </a:r>
            <a:r>
              <a:rPr lang="es-ES" sz="1600" dirty="0" err="1">
                <a:latin typeface="Arial" panose="020B0604020202020204" pitchFamily="34" charset="0"/>
                <a:cs typeface="Arial" panose="020B0604020202020204" pitchFamily="34" charset="0"/>
              </a:rPr>
              <a:t>Boot</a:t>
            </a:r>
            <a:r>
              <a:rPr lang="es-ES" sz="1600" dirty="0">
                <a:latin typeface="Arial" panose="020B0604020202020204" pitchFamily="34" charset="0"/>
                <a:cs typeface="Arial" panose="020B0604020202020204" pitchFamily="34" charset="0"/>
              </a:rPr>
              <a:t>, la integración de una base de datos relacional con PostgreSQL, y la incorporación de protocolos de seguridad para proteger la información. Asimismo, se muestra el diseño final del panel de control desarrollado en Angular, logrando así la transición de un sitio estático hacia una aplicación web dinámica, funcional y segura.</a:t>
            </a:r>
          </a:p>
        </p:txBody>
      </p:sp>
    </p:spTree>
    <p:extLst>
      <p:ext uri="{BB962C8B-B14F-4D97-AF65-F5344CB8AC3E}">
        <p14:creationId xmlns:p14="http://schemas.microsoft.com/office/powerpoint/2010/main" val="1225271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F9F5-AD65-40E6-A7EA-0157D52FC819}"/>
              </a:ext>
            </a:extLst>
          </p:cNvPr>
          <p:cNvSpPr>
            <a:spLocks noGrp="1"/>
          </p:cNvSpPr>
          <p:nvPr>
            <p:ph type="title"/>
          </p:nvPr>
        </p:nvSpPr>
        <p:spPr>
          <a:xfrm>
            <a:off x="3322503" y="212431"/>
            <a:ext cx="5546986" cy="1448685"/>
          </a:xfrm>
        </p:spPr>
        <p:txBody>
          <a:bodyPr>
            <a:normAutofit/>
          </a:bodyPr>
          <a:lstStyle/>
          <a:p>
            <a:pPr algn="ctr"/>
            <a:r>
              <a:rPr lang="es-MX" sz="6000" dirty="0">
                <a:solidFill>
                  <a:srgbClr val="002060"/>
                </a:solidFill>
                <a:latin typeface="Algerian" panose="04020705040A02060702" pitchFamily="82" charset="0"/>
              </a:rPr>
              <a:t>Justificación</a:t>
            </a:r>
          </a:p>
        </p:txBody>
      </p:sp>
      <p:sp>
        <p:nvSpPr>
          <p:cNvPr id="3" name="CuadroTexto 2">
            <a:extLst>
              <a:ext uri="{FF2B5EF4-FFF2-40B4-BE49-F238E27FC236}">
                <a16:creationId xmlns:a16="http://schemas.microsoft.com/office/drawing/2014/main" id="{13931EC5-2480-411C-BC9A-2DEEDAB066E7}"/>
              </a:ext>
            </a:extLst>
          </p:cNvPr>
          <p:cNvSpPr txBox="1"/>
          <p:nvPr/>
        </p:nvSpPr>
        <p:spPr>
          <a:xfrm>
            <a:off x="516348" y="1418623"/>
            <a:ext cx="11159296" cy="3739998"/>
          </a:xfrm>
          <a:prstGeom prst="rect">
            <a:avLst/>
          </a:prstGeom>
          <a:noFill/>
        </p:spPr>
        <p:txBody>
          <a:bodyPr wrap="square" rtlCol="0">
            <a:spAutoFit/>
          </a:bodyPr>
          <a:lstStyle/>
          <a:p>
            <a:pPr algn="just">
              <a:lnSpc>
                <a:spcPct val="150000"/>
              </a:lnSpc>
            </a:pPr>
            <a:r>
              <a:rPr lang="es-ES" sz="1600">
                <a:latin typeface="Arial" panose="020B0604020202020204" pitchFamily="34" charset="0"/>
                <a:cs typeface="Arial" panose="020B0604020202020204" pitchFamily="34" charset="0"/>
              </a:rPr>
              <a:t>La administración manual o mediante herramientas genéricas en un gimnasio suele generar problemas comunes como la pérdida de control en las vigencias de los pagos, la falta de seguimiento real en el progreso de los atletas y vulnerabilidades en la privacidad de los datos de los clientes. El desarrollo de GYMPRO se justifica en la necesidad de centralizar estas operaciones en un software a la medida que automatice los procesos repetitivos de manera eficiente.Técnicamente, la implementación de este avance es fundamental porque define la estabilidad y escalabilidad de toda la plataforma. La separación del código en capas independientes garantiza que el sistema pueda recibir mantenimiento o añadir nuevos módulos a futuro sin alterar las funciones existentes. Además, la integración de mecanismos automatizados para la base de datos y la encriptación de credenciales responde directamente a estándares actuales de desarrollo de software, asegurando que la plataforma no solo sea visualmente atractiva para el usuario, sino interna y estructuralmente segura.</a:t>
            </a:r>
            <a:endParaRPr lang="es-MX"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0257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476244" y="211033"/>
            <a:ext cx="8819823" cy="461665"/>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Estructura del "Backend" en la Aplicación Web</a:t>
            </a:r>
            <a:endParaRPr lang="es-ES"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458D2B25-706C-4324-B6EF-767DE2B15B39}"/>
              </a:ext>
            </a:extLst>
          </p:cNvPr>
          <p:cNvSpPr txBox="1"/>
          <p:nvPr/>
        </p:nvSpPr>
        <p:spPr>
          <a:xfrm>
            <a:off x="1269192" y="672698"/>
            <a:ext cx="9653616" cy="2099101"/>
          </a:xfrm>
          <a:prstGeom prst="rect">
            <a:avLst/>
          </a:prstGeom>
          <a:noFill/>
        </p:spPr>
        <p:txBody>
          <a:bodyPr wrap="square" rtlCol="0">
            <a:spAutoFit/>
          </a:bodyPr>
          <a:lstStyle/>
          <a:p>
            <a:pPr algn="just">
              <a:lnSpc>
                <a:spcPct val="150000"/>
              </a:lnSpc>
              <a:spcAft>
                <a:spcPts val="800"/>
              </a:spcAft>
            </a:pPr>
            <a:r>
              <a:rPr lang="es-ES" sz="1400" dirty="0"/>
              <a:t>En el desarrollo de aplicaciones web modernas basadas en arquitecturas distribuidas y arquitecturas </a:t>
            </a:r>
            <a:r>
              <a:rPr lang="es-ES" sz="1400" dirty="0" err="1"/>
              <a:t>Serverless</a:t>
            </a:r>
            <a:r>
              <a:rPr lang="es-ES" sz="1400" dirty="0"/>
              <a:t> o Backend-as-a-Service (</a:t>
            </a:r>
            <a:r>
              <a:rPr lang="es-ES" sz="1400" dirty="0" err="1"/>
              <a:t>BaaS</a:t>
            </a:r>
            <a:r>
              <a:rPr lang="es-ES" sz="1400" dirty="0"/>
              <a:t>), la lógica que tradicionalmente residiría en un servidor físico se centraliza en Servicios Inyectables en el frontend que se comunican directamente con un motor de persistencia en la nube (</a:t>
            </a:r>
            <a:r>
              <a:rPr lang="es-ES" sz="1400" dirty="0" err="1"/>
              <a:t>Supabase</a:t>
            </a:r>
            <a:r>
              <a:rPr lang="es-ES" sz="1400" dirty="0"/>
              <a:t> / PostgreSQL) a través de canales seguros basados en </a:t>
            </a:r>
            <a:r>
              <a:rPr lang="es-ES" sz="1400" dirty="0" err="1"/>
              <a:t>WebSockets</a:t>
            </a:r>
            <a:r>
              <a:rPr lang="es-ES" sz="1400" dirty="0"/>
              <a:t> y peticiones HTTPS REST.</a:t>
            </a:r>
          </a:p>
          <a:p>
            <a:pPr algn="just">
              <a:lnSpc>
                <a:spcPct val="150000"/>
              </a:lnSpc>
              <a:spcAft>
                <a:spcPts val="800"/>
              </a:spcAft>
            </a:pPr>
            <a:r>
              <a:rPr lang="es-ES" sz="1400" dirty="0"/>
              <a:t>Para este proyecto, el núcleo de la comunicación, la lógica de negocio orientada a la persistencia y la configuración del cliente global se concentran en la capa de servicios de Angular:</a:t>
            </a:r>
            <a:endParaRPr lang="es-ES" sz="14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B9782947-1EB8-4AFD-9D02-20999FC7A86C}"/>
              </a:ext>
            </a:extLst>
          </p:cNvPr>
          <p:cNvPicPr/>
          <p:nvPr/>
        </p:nvPicPr>
        <p:blipFill>
          <a:blip r:embed="rId2"/>
          <a:stretch>
            <a:fillRect/>
          </a:stretch>
        </p:blipFill>
        <p:spPr>
          <a:xfrm>
            <a:off x="2012677" y="2771799"/>
            <a:ext cx="7508693" cy="4086201"/>
          </a:xfrm>
          <a:prstGeom prst="rect">
            <a:avLst/>
          </a:prstGeom>
        </p:spPr>
      </p:pic>
    </p:spTree>
    <p:extLst>
      <p:ext uri="{BB962C8B-B14F-4D97-AF65-F5344CB8AC3E}">
        <p14:creationId xmlns:p14="http://schemas.microsoft.com/office/powerpoint/2010/main" val="1656159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476244" y="211033"/>
            <a:ext cx="8819823" cy="461665"/>
          </a:xfrm>
          <a:prstGeom prst="rect">
            <a:avLst/>
          </a:prstGeom>
          <a:noFill/>
        </p:spPr>
        <p:txBody>
          <a:bodyPr wrap="square" rtlCol="0">
            <a:spAutoFit/>
          </a:bodyPr>
          <a:lstStyle/>
          <a:p>
            <a:pPr algn="ctr"/>
            <a:r>
              <a:rPr lang="es-ES" sz="2400" b="1" dirty="0">
                <a:solidFill>
                  <a:srgbClr val="B48900"/>
                </a:solidFill>
                <a:latin typeface="Lucida Handwriting" panose="03010101010101010101" pitchFamily="66" charset="0"/>
                <a:cs typeface="Arial" panose="020B0604020202020204" pitchFamily="34" charset="0"/>
              </a:rPr>
              <a:t>Inicialización del Cliente y Conexión Base</a:t>
            </a:r>
          </a:p>
        </p:txBody>
      </p:sp>
      <p:sp>
        <p:nvSpPr>
          <p:cNvPr id="5" name="CuadroTexto 4">
            <a:extLst>
              <a:ext uri="{FF2B5EF4-FFF2-40B4-BE49-F238E27FC236}">
                <a16:creationId xmlns:a16="http://schemas.microsoft.com/office/drawing/2014/main" id="{458D2B25-706C-4324-B6EF-767DE2B15B39}"/>
              </a:ext>
            </a:extLst>
          </p:cNvPr>
          <p:cNvSpPr txBox="1"/>
          <p:nvPr/>
        </p:nvSpPr>
        <p:spPr>
          <a:xfrm>
            <a:off x="1269192" y="811996"/>
            <a:ext cx="9653616" cy="705258"/>
          </a:xfrm>
          <a:prstGeom prst="rect">
            <a:avLst/>
          </a:prstGeom>
          <a:noFill/>
        </p:spPr>
        <p:txBody>
          <a:bodyPr wrap="square" rtlCol="0">
            <a:spAutoFit/>
          </a:bodyPr>
          <a:lstStyle/>
          <a:p>
            <a:pPr algn="just">
              <a:lnSpc>
                <a:spcPct val="150000"/>
              </a:lnSpc>
              <a:spcAft>
                <a:spcPts val="800"/>
              </a:spcAft>
            </a:pPr>
            <a:r>
              <a:rPr lang="es-ES" sz="1400" dirty="0"/>
              <a:t>El servicio utiliza la librería oficial @supabase/supabase-js para instanciar el cliente usando variables de entorno clave (URL del proyecto y la </a:t>
            </a:r>
            <a:r>
              <a:rPr lang="es-ES" sz="1400" dirty="0" err="1"/>
              <a:t>Anon</a:t>
            </a:r>
            <a:r>
              <a:rPr lang="es-ES" sz="1400" dirty="0"/>
              <a:t> Key pública).</a:t>
            </a:r>
          </a:p>
        </p:txBody>
      </p:sp>
      <p:sp>
        <p:nvSpPr>
          <p:cNvPr id="2" name="AutoShape 2">
            <a:extLst>
              <a:ext uri="{FF2B5EF4-FFF2-40B4-BE49-F238E27FC236}">
                <a16:creationId xmlns:a16="http://schemas.microsoft.com/office/drawing/2014/main" id="{A5F17238-16EC-45E5-A384-39E5C4A39A2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8" name="Imagen 7">
            <a:extLst>
              <a:ext uri="{FF2B5EF4-FFF2-40B4-BE49-F238E27FC236}">
                <a16:creationId xmlns:a16="http://schemas.microsoft.com/office/drawing/2014/main" id="{90980D99-E631-4C85-888A-5BDF5EFA600F}"/>
              </a:ext>
            </a:extLst>
          </p:cNvPr>
          <p:cNvPicPr/>
          <p:nvPr/>
        </p:nvPicPr>
        <p:blipFill>
          <a:blip r:embed="rId2"/>
          <a:stretch>
            <a:fillRect/>
          </a:stretch>
        </p:blipFill>
        <p:spPr>
          <a:xfrm>
            <a:off x="1476243" y="1827984"/>
            <a:ext cx="8819823" cy="2410187"/>
          </a:xfrm>
          <a:prstGeom prst="rect">
            <a:avLst/>
          </a:prstGeom>
        </p:spPr>
      </p:pic>
      <p:sp>
        <p:nvSpPr>
          <p:cNvPr id="9" name="CuadroTexto 8">
            <a:extLst>
              <a:ext uri="{FF2B5EF4-FFF2-40B4-BE49-F238E27FC236}">
                <a16:creationId xmlns:a16="http://schemas.microsoft.com/office/drawing/2014/main" id="{BC7038C4-5125-45E4-B9D4-0B27B949AE30}"/>
              </a:ext>
            </a:extLst>
          </p:cNvPr>
          <p:cNvSpPr txBox="1"/>
          <p:nvPr/>
        </p:nvSpPr>
        <p:spPr>
          <a:xfrm>
            <a:off x="1059346" y="4579853"/>
            <a:ext cx="9653616" cy="705258"/>
          </a:xfrm>
          <a:prstGeom prst="rect">
            <a:avLst/>
          </a:prstGeom>
          <a:noFill/>
        </p:spPr>
        <p:txBody>
          <a:bodyPr wrap="square" rtlCol="0">
            <a:spAutoFit/>
          </a:bodyPr>
          <a:lstStyle/>
          <a:p>
            <a:pPr algn="just">
              <a:lnSpc>
                <a:spcPct val="150000"/>
              </a:lnSpc>
              <a:spcAft>
                <a:spcPts val="800"/>
              </a:spcAft>
            </a:pPr>
            <a:r>
              <a:rPr lang="es-ES" sz="1400" dirty="0"/>
              <a:t>El constructor invoca el método </a:t>
            </a:r>
            <a:r>
              <a:rPr lang="es-ES" sz="1400" dirty="0" err="1"/>
              <a:t>createClient</a:t>
            </a:r>
            <a:r>
              <a:rPr lang="es-ES" sz="1400" dirty="0"/>
              <a:t>, creando un objeto único (</a:t>
            </a:r>
            <a:r>
              <a:rPr lang="es-ES" sz="1400" dirty="0" err="1"/>
              <a:t>this.supabase</a:t>
            </a:r>
            <a:r>
              <a:rPr lang="es-ES" sz="1400" dirty="0"/>
              <a:t>) que encapsula las cabeceras HTTP necesarias para autenticar cada petición de forma nativa hacia el backend en la nube.</a:t>
            </a:r>
          </a:p>
        </p:txBody>
      </p:sp>
    </p:spTree>
    <p:extLst>
      <p:ext uri="{BB962C8B-B14F-4D97-AF65-F5344CB8AC3E}">
        <p14:creationId xmlns:p14="http://schemas.microsoft.com/office/powerpoint/2010/main" val="254044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476244" y="211033"/>
            <a:ext cx="8819823" cy="461665"/>
          </a:xfrm>
          <a:prstGeom prst="rect">
            <a:avLst/>
          </a:prstGeom>
          <a:noFill/>
        </p:spPr>
        <p:txBody>
          <a:bodyPr wrap="square" rtlCol="0">
            <a:spAutoFit/>
          </a:bodyPr>
          <a:lstStyle/>
          <a:p>
            <a:pPr algn="ctr"/>
            <a:r>
              <a:rPr lang="es-ES" sz="2400" b="1" dirty="0">
                <a:solidFill>
                  <a:srgbClr val="B48900"/>
                </a:solidFill>
                <a:latin typeface="Lucida Handwriting" panose="03010101010101010101" pitchFamily="66" charset="0"/>
                <a:cs typeface="Arial" panose="020B0604020202020204" pitchFamily="34" charset="0"/>
              </a:rPr>
              <a:t>Registro e Inserción de Datos (CREATE)</a:t>
            </a:r>
          </a:p>
        </p:txBody>
      </p:sp>
      <p:sp>
        <p:nvSpPr>
          <p:cNvPr id="5" name="CuadroTexto 4">
            <a:extLst>
              <a:ext uri="{FF2B5EF4-FFF2-40B4-BE49-F238E27FC236}">
                <a16:creationId xmlns:a16="http://schemas.microsoft.com/office/drawing/2014/main" id="{458D2B25-706C-4324-B6EF-767DE2B15B39}"/>
              </a:ext>
            </a:extLst>
          </p:cNvPr>
          <p:cNvSpPr txBox="1"/>
          <p:nvPr/>
        </p:nvSpPr>
        <p:spPr>
          <a:xfrm>
            <a:off x="1269192" y="811996"/>
            <a:ext cx="9653616" cy="380682"/>
          </a:xfrm>
          <a:prstGeom prst="rect">
            <a:avLst/>
          </a:prstGeom>
          <a:noFill/>
        </p:spPr>
        <p:txBody>
          <a:bodyPr wrap="square" rtlCol="0">
            <a:spAutoFit/>
          </a:bodyPr>
          <a:lstStyle/>
          <a:p>
            <a:pPr algn="just">
              <a:lnSpc>
                <a:spcPct val="150000"/>
              </a:lnSpc>
              <a:spcAft>
                <a:spcPts val="800"/>
              </a:spcAft>
            </a:pPr>
            <a:r>
              <a:rPr lang="es-ES" sz="1400" dirty="0"/>
              <a:t>Para el alta de usuarios y almacenamiento de nuevas rutinas enviadas por el Administrador:</a:t>
            </a:r>
            <a:endParaRPr lang="es-ES" sz="14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AutoShape 2">
            <a:extLst>
              <a:ext uri="{FF2B5EF4-FFF2-40B4-BE49-F238E27FC236}">
                <a16:creationId xmlns:a16="http://schemas.microsoft.com/office/drawing/2014/main" id="{A5F17238-16EC-45E5-A384-39E5C4A39A2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pic>
        <p:nvPicPr>
          <p:cNvPr id="4" name="Imagen 3">
            <a:extLst>
              <a:ext uri="{FF2B5EF4-FFF2-40B4-BE49-F238E27FC236}">
                <a16:creationId xmlns:a16="http://schemas.microsoft.com/office/drawing/2014/main" id="{BCB964AD-7F30-412D-A86F-63225BF85565}"/>
              </a:ext>
            </a:extLst>
          </p:cNvPr>
          <p:cNvPicPr>
            <a:picLocks noChangeAspect="1"/>
          </p:cNvPicPr>
          <p:nvPr/>
        </p:nvPicPr>
        <p:blipFill>
          <a:blip r:embed="rId2"/>
          <a:stretch>
            <a:fillRect/>
          </a:stretch>
        </p:blipFill>
        <p:spPr>
          <a:xfrm>
            <a:off x="2217548" y="1331976"/>
            <a:ext cx="7337214" cy="4127183"/>
          </a:xfrm>
          <a:prstGeom prst="rect">
            <a:avLst/>
          </a:prstGeom>
        </p:spPr>
      </p:pic>
      <p:sp>
        <p:nvSpPr>
          <p:cNvPr id="7" name="CuadroTexto 6">
            <a:extLst>
              <a:ext uri="{FF2B5EF4-FFF2-40B4-BE49-F238E27FC236}">
                <a16:creationId xmlns:a16="http://schemas.microsoft.com/office/drawing/2014/main" id="{62B1EFEF-43B2-437D-8BE5-80CC697CC0E8}"/>
              </a:ext>
            </a:extLst>
          </p:cNvPr>
          <p:cNvSpPr txBox="1"/>
          <p:nvPr/>
        </p:nvSpPr>
        <p:spPr>
          <a:xfrm>
            <a:off x="1059347" y="5685306"/>
            <a:ext cx="9653616" cy="703847"/>
          </a:xfrm>
          <a:prstGeom prst="rect">
            <a:avLst/>
          </a:prstGeom>
          <a:noFill/>
        </p:spPr>
        <p:txBody>
          <a:bodyPr wrap="square" rtlCol="0">
            <a:spAutoFit/>
          </a:bodyPr>
          <a:lstStyle/>
          <a:p>
            <a:pPr algn="just">
              <a:lnSpc>
                <a:spcPct val="150000"/>
              </a:lnSpc>
              <a:spcAft>
                <a:spcPts val="800"/>
              </a:spcAft>
            </a:pPr>
            <a:r>
              <a:rPr lang="es-ES" sz="1400" dirty="0"/>
              <a:t>El método utiliza el mapeo relacional de objetos de </a:t>
            </a:r>
            <a:r>
              <a:rPr lang="es-ES" sz="1400" dirty="0" err="1"/>
              <a:t>Supabase</a:t>
            </a:r>
            <a:r>
              <a:rPr lang="es-ES" sz="1400" dirty="0"/>
              <a:t> invocando .</a:t>
            </a:r>
            <a:r>
              <a:rPr lang="es-ES" sz="1400" dirty="0" err="1"/>
              <a:t>from</a:t>
            </a:r>
            <a:r>
              <a:rPr lang="es-ES" sz="1400" dirty="0"/>
              <a:t>('rutinas').</a:t>
            </a:r>
            <a:r>
              <a:rPr lang="es-ES" sz="1400" dirty="0" err="1"/>
              <a:t>insert</a:t>
            </a:r>
            <a:r>
              <a:rPr lang="es-ES" sz="1400" dirty="0"/>
              <a:t>(). Recibe un objeto JSON con la información estructurada y genera un </a:t>
            </a:r>
            <a:r>
              <a:rPr lang="es-ES" sz="1400" dirty="0" err="1"/>
              <a:t>query</a:t>
            </a:r>
            <a:r>
              <a:rPr lang="es-ES" sz="1400" dirty="0"/>
              <a:t> INSERT INTO implícito en la base de datos de forma asíncrona (</a:t>
            </a:r>
            <a:r>
              <a:rPr lang="es-ES" sz="1400" dirty="0" err="1"/>
              <a:t>await</a:t>
            </a:r>
            <a:r>
              <a:rPr lang="es-ES" sz="1400" dirty="0"/>
              <a:t>).</a:t>
            </a:r>
            <a:endParaRPr lang="es-ES" sz="1400"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57558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783771" y="211033"/>
            <a:ext cx="10121129" cy="461665"/>
          </a:xfrm>
          <a:prstGeom prst="rect">
            <a:avLst/>
          </a:prstGeom>
          <a:noFill/>
        </p:spPr>
        <p:txBody>
          <a:bodyPr wrap="square" rtlCol="0">
            <a:spAutoFit/>
          </a:bodyPr>
          <a:lstStyle/>
          <a:p>
            <a:pPr algn="ctr"/>
            <a:r>
              <a:rPr lang="es-ES" sz="2400" b="1" dirty="0">
                <a:solidFill>
                  <a:srgbClr val="B48900"/>
                </a:solidFill>
                <a:latin typeface="Lucida Handwriting" panose="03010101010101010101" pitchFamily="66" charset="0"/>
                <a:cs typeface="Arial" panose="020B0604020202020204" pitchFamily="34" charset="0"/>
              </a:rPr>
              <a:t>Operación: Consulta y Filtrado de Información (READ)</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458D2B25-706C-4324-B6EF-767DE2B15B39}"/>
              </a:ext>
            </a:extLst>
          </p:cNvPr>
          <p:cNvSpPr txBox="1"/>
          <p:nvPr/>
        </p:nvSpPr>
        <p:spPr>
          <a:xfrm>
            <a:off x="1287100" y="533798"/>
            <a:ext cx="9653616" cy="698717"/>
          </a:xfrm>
          <a:prstGeom prst="rect">
            <a:avLst/>
          </a:prstGeom>
          <a:noFill/>
        </p:spPr>
        <p:txBody>
          <a:bodyPr wrap="square" rtlCol="0">
            <a:spAutoFit/>
          </a:bodyPr>
          <a:lstStyle/>
          <a:p>
            <a:pPr algn="just">
              <a:lnSpc>
                <a:spcPct val="150000"/>
              </a:lnSpc>
              <a:spcAft>
                <a:spcPts val="800"/>
              </a:spcAft>
            </a:pPr>
            <a:r>
              <a:rPr lang="es-ES" sz="1400" dirty="0">
                <a:effectLst/>
                <a:latin typeface="Arial" panose="020B0604020202020204" pitchFamily="34" charset="0"/>
                <a:ea typeface="Calibri" panose="020F0502020204030204" pitchFamily="34" charset="0"/>
                <a:cs typeface="Times New Roman" panose="02020603050405020304" pitchFamily="18" charset="0"/>
              </a:rPr>
              <a:t>Para desplegar la información personalizada en el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dashboard</a:t>
            </a:r>
            <a:r>
              <a:rPr lang="es-ES" sz="1400" dirty="0">
                <a:effectLst/>
                <a:latin typeface="Arial" panose="020B0604020202020204" pitchFamily="34" charset="0"/>
                <a:ea typeface="Calibri" panose="020F0502020204030204" pitchFamily="34" charset="0"/>
                <a:cs typeface="Times New Roman" panose="02020603050405020304" pitchFamily="18" charset="0"/>
              </a:rPr>
              <a:t> de los atletas según su nivel de rendimiento, u obtener la lista global de control de usuarios:</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7" name="Imagen 6">
            <a:extLst>
              <a:ext uri="{FF2B5EF4-FFF2-40B4-BE49-F238E27FC236}">
                <a16:creationId xmlns:a16="http://schemas.microsoft.com/office/drawing/2014/main" id="{02D66891-518D-4FD0-A946-B2851D23036C}"/>
              </a:ext>
            </a:extLst>
          </p:cNvPr>
          <p:cNvPicPr/>
          <p:nvPr/>
        </p:nvPicPr>
        <p:blipFill>
          <a:blip r:embed="rId2"/>
          <a:stretch>
            <a:fillRect/>
          </a:stretch>
        </p:blipFill>
        <p:spPr>
          <a:xfrm>
            <a:off x="3177721" y="1232515"/>
            <a:ext cx="5313135" cy="3905542"/>
          </a:xfrm>
          <a:prstGeom prst="rect">
            <a:avLst/>
          </a:prstGeom>
        </p:spPr>
      </p:pic>
      <p:sp>
        <p:nvSpPr>
          <p:cNvPr id="8" name="CuadroTexto 7">
            <a:extLst>
              <a:ext uri="{FF2B5EF4-FFF2-40B4-BE49-F238E27FC236}">
                <a16:creationId xmlns:a16="http://schemas.microsoft.com/office/drawing/2014/main" id="{CAC9CF4D-83B6-4F07-8964-C99EAB523DB6}"/>
              </a:ext>
            </a:extLst>
          </p:cNvPr>
          <p:cNvSpPr txBox="1"/>
          <p:nvPr/>
        </p:nvSpPr>
        <p:spPr>
          <a:xfrm>
            <a:off x="783771" y="5276126"/>
            <a:ext cx="9653616" cy="1021883"/>
          </a:xfrm>
          <a:prstGeom prst="rect">
            <a:avLst/>
          </a:prstGeom>
          <a:noFill/>
        </p:spPr>
        <p:txBody>
          <a:bodyPr wrap="square" rtlCol="0">
            <a:spAutoFit/>
          </a:bodyPr>
          <a:lstStyle/>
          <a:p>
            <a:pPr algn="just">
              <a:lnSpc>
                <a:spcPct val="150000"/>
              </a:lnSpc>
              <a:spcAft>
                <a:spcPts val="800"/>
              </a:spcAft>
            </a:pPr>
            <a:r>
              <a:rPr lang="es-ES" sz="1400" dirty="0">
                <a:effectLst/>
                <a:latin typeface="Arial" panose="020B0604020202020204" pitchFamily="34" charset="0"/>
                <a:ea typeface="Calibri" panose="020F0502020204030204" pitchFamily="34" charset="0"/>
                <a:cs typeface="Times New Roman" panose="02020603050405020304" pitchFamily="18" charset="0"/>
              </a:rPr>
              <a:t>El método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select</a:t>
            </a:r>
            <a:r>
              <a:rPr lang="es-ES" sz="1400" dirty="0">
                <a:effectLst/>
                <a:latin typeface="Arial" panose="020B0604020202020204" pitchFamily="34" charset="0"/>
                <a:ea typeface="Calibri" panose="020F0502020204030204" pitchFamily="34" charset="0"/>
                <a:cs typeface="Times New Roman" panose="02020603050405020304" pitchFamily="18" charset="0"/>
              </a:rPr>
              <a:t>('*') extrae las columnas de la tabla designada, mientras que el operador lógico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eq</a:t>
            </a:r>
            <a:r>
              <a:rPr lang="es-ES" sz="1400" dirty="0">
                <a:effectLst/>
                <a:latin typeface="Arial" panose="020B0604020202020204" pitchFamily="34" charset="0"/>
                <a:ea typeface="Calibri" panose="020F0502020204030204" pitchFamily="34" charset="0"/>
                <a:cs typeface="Times New Roman" panose="02020603050405020304" pitchFamily="18" charset="0"/>
              </a:rPr>
              <a:t>('nivel', nivel) funciona como una cláusula SQL WHERE nivel = ?, aislando los registros del servidor para que el frontend solo procese lo que le corresponde al atleta en sesión.</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79586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2575263" y="211033"/>
            <a:ext cx="7258548" cy="461665"/>
          </a:xfrm>
          <a:prstGeom prst="rect">
            <a:avLst/>
          </a:prstGeom>
          <a:noFill/>
        </p:spPr>
        <p:txBody>
          <a:bodyPr wrap="square" rtlCol="0">
            <a:spAutoFit/>
          </a:bodyPr>
          <a:lstStyle/>
          <a:p>
            <a:pPr algn="ctr"/>
            <a:r>
              <a:rPr lang="es-MX" sz="2400" b="1">
                <a:solidFill>
                  <a:srgbClr val="B48900"/>
                </a:solidFill>
                <a:latin typeface="Lucida Handwriting" panose="03010101010101010101" pitchFamily="66" charset="0"/>
                <a:cs typeface="Arial" panose="020B0604020202020204" pitchFamily="34" charset="0"/>
              </a:rPr>
              <a:t>Actualización de Registros (UPDATE)</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458D2B25-706C-4324-B6EF-767DE2B15B39}"/>
              </a:ext>
            </a:extLst>
          </p:cNvPr>
          <p:cNvSpPr txBox="1"/>
          <p:nvPr/>
        </p:nvSpPr>
        <p:spPr>
          <a:xfrm>
            <a:off x="1287100" y="672698"/>
            <a:ext cx="9653616" cy="375552"/>
          </a:xfrm>
          <a:prstGeom prst="rect">
            <a:avLst/>
          </a:prstGeom>
          <a:noFill/>
        </p:spPr>
        <p:txBody>
          <a:bodyPr wrap="square" rtlCol="0">
            <a:spAutoFit/>
          </a:bodyPr>
          <a:lstStyle/>
          <a:p>
            <a:pPr algn="just">
              <a:lnSpc>
                <a:spcPct val="150000"/>
              </a:lnSpc>
              <a:spcAft>
                <a:spcPts val="800"/>
              </a:spcAft>
            </a:pPr>
            <a:r>
              <a:rPr lang="es-ES" sz="1400" dirty="0">
                <a:effectLst/>
                <a:latin typeface="Arial" panose="020B0604020202020204" pitchFamily="34" charset="0"/>
                <a:ea typeface="Calibri" panose="020F0502020204030204" pitchFamily="34" charset="0"/>
                <a:cs typeface="Times New Roman" panose="02020603050405020304" pitchFamily="18" charset="0"/>
              </a:rPr>
              <a:t>Permite modificar estados o campos específicos de las tuplas existentes en la base de datos:</a:t>
            </a:r>
          </a:p>
        </p:txBody>
      </p:sp>
      <p:pic>
        <p:nvPicPr>
          <p:cNvPr id="7" name="Imagen 6">
            <a:extLst>
              <a:ext uri="{FF2B5EF4-FFF2-40B4-BE49-F238E27FC236}">
                <a16:creationId xmlns:a16="http://schemas.microsoft.com/office/drawing/2014/main" id="{73AE0A4B-DD6B-467B-A259-68EF458779EE}"/>
              </a:ext>
            </a:extLst>
          </p:cNvPr>
          <p:cNvPicPr/>
          <p:nvPr/>
        </p:nvPicPr>
        <p:blipFill>
          <a:blip r:embed="rId2"/>
          <a:stretch>
            <a:fillRect/>
          </a:stretch>
        </p:blipFill>
        <p:spPr>
          <a:xfrm>
            <a:off x="3513818" y="1134363"/>
            <a:ext cx="4207782" cy="2189408"/>
          </a:xfrm>
          <a:prstGeom prst="rect">
            <a:avLst/>
          </a:prstGeom>
        </p:spPr>
      </p:pic>
      <p:sp>
        <p:nvSpPr>
          <p:cNvPr id="8" name="CuadroTexto 7">
            <a:extLst>
              <a:ext uri="{FF2B5EF4-FFF2-40B4-BE49-F238E27FC236}">
                <a16:creationId xmlns:a16="http://schemas.microsoft.com/office/drawing/2014/main" id="{44DAEC07-E40B-41CD-88E7-0182D8D86205}"/>
              </a:ext>
            </a:extLst>
          </p:cNvPr>
          <p:cNvSpPr txBox="1"/>
          <p:nvPr/>
        </p:nvSpPr>
        <p:spPr>
          <a:xfrm>
            <a:off x="891821" y="3429000"/>
            <a:ext cx="9653616" cy="698717"/>
          </a:xfrm>
          <a:prstGeom prst="rect">
            <a:avLst/>
          </a:prstGeom>
          <a:noFill/>
        </p:spPr>
        <p:txBody>
          <a:bodyPr wrap="square" rtlCol="0">
            <a:spAutoFit/>
          </a:bodyPr>
          <a:lstStyle/>
          <a:p>
            <a:pPr algn="just">
              <a:lnSpc>
                <a:spcPct val="150000"/>
              </a:lnSpc>
              <a:spcAft>
                <a:spcPts val="800"/>
              </a:spcAft>
            </a:pPr>
            <a:r>
              <a:rPr lang="es-ES" sz="1400" dirty="0">
                <a:effectLst/>
                <a:latin typeface="Arial" panose="020B0604020202020204" pitchFamily="34" charset="0"/>
                <a:ea typeface="Calibri" panose="020F0502020204030204" pitchFamily="34" charset="0"/>
                <a:cs typeface="Times New Roman" panose="02020603050405020304" pitchFamily="18" charset="0"/>
              </a:rPr>
              <a:t>El método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update</a:t>
            </a:r>
            <a:r>
              <a:rPr lang="es-ES" sz="1400" dirty="0">
                <a:effectLst/>
                <a:latin typeface="Arial" panose="020B0604020202020204" pitchFamily="34" charset="0"/>
                <a:ea typeface="Calibri" panose="020F0502020204030204" pitchFamily="34" charset="0"/>
                <a:cs typeface="Times New Roman" panose="02020603050405020304" pitchFamily="18" charset="0"/>
              </a:rPr>
              <a:t>() modifica selectivamente los campos enviados por parámetro en el renglón cuyo identificador único coincida con el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uid</a:t>
            </a:r>
            <a:r>
              <a:rPr lang="es-ES" sz="1400" dirty="0">
                <a:effectLst/>
                <a:latin typeface="Arial" panose="020B0604020202020204" pitchFamily="34" charset="0"/>
                <a:ea typeface="Calibri" panose="020F0502020204030204" pitchFamily="34" charset="0"/>
                <a:cs typeface="Times New Roman" panose="02020603050405020304" pitchFamily="18" charset="0"/>
              </a:rPr>
              <a:t> provisto mediante la instrucción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eq</a:t>
            </a:r>
            <a:r>
              <a:rPr lang="es-ES" sz="1400" dirty="0">
                <a:effectLst/>
                <a:latin typeface="Arial" panose="020B0604020202020204" pitchFamily="34" charset="0"/>
                <a:ea typeface="Calibri" panose="020F0502020204030204" pitchFamily="34" charset="0"/>
                <a:cs typeface="Times New Roman" panose="02020603050405020304" pitchFamily="18" charset="0"/>
              </a:rPr>
              <a:t>('id',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uid</a:t>
            </a:r>
            <a:r>
              <a:rPr lang="es-ES" sz="1400" dirty="0">
                <a:effectLst/>
                <a:latin typeface="Arial" panose="020B060402020202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712000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287100" y="211033"/>
            <a:ext cx="8546711" cy="830997"/>
          </a:xfrm>
          <a:prstGeom prst="rect">
            <a:avLst/>
          </a:prstGeom>
          <a:noFill/>
        </p:spPr>
        <p:txBody>
          <a:bodyPr wrap="square" rtlCol="0">
            <a:spAutoFit/>
          </a:bodyPr>
          <a:lstStyle/>
          <a:p>
            <a:pPr algn="ctr"/>
            <a:r>
              <a:rPr lang="es-ES" sz="2400" b="1" dirty="0">
                <a:solidFill>
                  <a:srgbClr val="B48900"/>
                </a:solidFill>
                <a:latin typeface="Lucida Handwriting" panose="03010101010101010101" pitchFamily="66" charset="0"/>
                <a:cs typeface="Arial" panose="020B0604020202020204" pitchFamily="34" charset="0"/>
              </a:rPr>
              <a:t>Configuración e Infraestructura del Backend: Creación del Ecosistema en </a:t>
            </a:r>
            <a:r>
              <a:rPr lang="es-ES" sz="2400" b="1" dirty="0" err="1">
                <a:solidFill>
                  <a:srgbClr val="B48900"/>
                </a:solidFill>
                <a:latin typeface="Lucida Handwriting" panose="03010101010101010101" pitchFamily="66" charset="0"/>
                <a:cs typeface="Arial" panose="020B0604020202020204" pitchFamily="34" charset="0"/>
              </a:rPr>
              <a:t>Supabase</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458D2B25-706C-4324-B6EF-767DE2B15B39}"/>
              </a:ext>
            </a:extLst>
          </p:cNvPr>
          <p:cNvSpPr txBox="1"/>
          <p:nvPr/>
        </p:nvSpPr>
        <p:spPr>
          <a:xfrm>
            <a:off x="1083900" y="1042030"/>
            <a:ext cx="9653616" cy="1668214"/>
          </a:xfrm>
          <a:prstGeom prst="rect">
            <a:avLst/>
          </a:prstGeom>
          <a:noFill/>
        </p:spPr>
        <p:txBody>
          <a:bodyPr wrap="square" rtlCol="0">
            <a:spAutoFit/>
          </a:bodyPr>
          <a:lstStyle/>
          <a:p>
            <a:pPr algn="just">
              <a:lnSpc>
                <a:spcPct val="150000"/>
              </a:lnSpc>
              <a:spcAft>
                <a:spcPts val="800"/>
              </a:spcAft>
            </a:pPr>
            <a:r>
              <a:rPr lang="es-ES" sz="1400" dirty="0">
                <a:effectLst/>
                <a:latin typeface="Arial" panose="020B0604020202020204" pitchFamily="34" charset="0"/>
                <a:ea typeface="Calibri" panose="020F0502020204030204" pitchFamily="34" charset="0"/>
                <a:cs typeface="Times New Roman" panose="02020603050405020304" pitchFamily="18" charset="0"/>
              </a:rPr>
              <a:t>Extracción de Claves de Acceso y Variables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Globales:Una</a:t>
            </a:r>
            <a:r>
              <a:rPr lang="es-ES" sz="1400" dirty="0">
                <a:effectLst/>
                <a:latin typeface="Arial" panose="020B0604020202020204" pitchFamily="34" charset="0"/>
                <a:ea typeface="Calibri" panose="020F0502020204030204" pitchFamily="34" charset="0"/>
                <a:cs typeface="Times New Roman" panose="02020603050405020304" pitchFamily="18" charset="0"/>
              </a:rPr>
              <a:t> vez aprovisionada la instancia, el panel de control centralizó las credenciales de conexión requeridas por el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framework</a:t>
            </a:r>
            <a:r>
              <a:rPr lang="es-ES" sz="1400" dirty="0">
                <a:effectLst/>
                <a:latin typeface="Arial" panose="020B0604020202020204" pitchFamily="34" charset="0"/>
                <a:ea typeface="Calibri" panose="020F0502020204030204" pitchFamily="34" charset="0"/>
                <a:cs typeface="Times New Roman" panose="02020603050405020304" pitchFamily="18" charset="0"/>
              </a:rPr>
              <a:t> Angular en el cliente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frontend:Project</a:t>
            </a:r>
            <a:r>
              <a:rPr lang="es-ES" sz="1400" dirty="0">
                <a:effectLst/>
                <a:latin typeface="Arial" panose="020B0604020202020204" pitchFamily="34" charset="0"/>
                <a:ea typeface="Calibri" panose="020F0502020204030204" pitchFamily="34" charset="0"/>
                <a:cs typeface="Times New Roman" panose="02020603050405020304" pitchFamily="18" charset="0"/>
              </a:rPr>
              <a:t> URL: La API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endpoint</a:t>
            </a:r>
            <a:r>
              <a:rPr lang="es-ES" sz="1400" dirty="0">
                <a:effectLst/>
                <a:latin typeface="Arial" panose="020B0604020202020204" pitchFamily="34" charset="0"/>
                <a:ea typeface="Calibri" panose="020F0502020204030204" pitchFamily="34" charset="0"/>
                <a:cs typeface="Times New Roman" panose="02020603050405020304" pitchFamily="18" charset="0"/>
              </a:rPr>
              <a:t> raíz encargada de recibir los mapeos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relacionales.API</a:t>
            </a:r>
            <a:r>
              <a:rPr lang="es-ES" sz="1400" dirty="0">
                <a:effectLst/>
                <a:latin typeface="Arial" panose="020B0604020202020204" pitchFamily="34" charset="0"/>
                <a:ea typeface="Calibri" panose="020F0502020204030204" pitchFamily="34" charset="0"/>
                <a:cs typeface="Times New Roman" panose="02020603050405020304" pitchFamily="18" charset="0"/>
              </a:rPr>
              <a:t> </a:t>
            </a:r>
            <a:r>
              <a:rPr lang="es-ES" sz="1400" dirty="0" err="1">
                <a:effectLst/>
                <a:latin typeface="Arial" panose="020B0604020202020204" pitchFamily="34" charset="0"/>
                <a:ea typeface="Calibri" panose="020F0502020204030204" pitchFamily="34" charset="0"/>
                <a:cs typeface="Times New Roman" panose="02020603050405020304" pitchFamily="18" charset="0"/>
              </a:rPr>
              <a:t>Anon</a:t>
            </a:r>
            <a:r>
              <a:rPr lang="es-ES" sz="1400" dirty="0">
                <a:effectLst/>
                <a:latin typeface="Arial" panose="020B0604020202020204" pitchFamily="34" charset="0"/>
                <a:ea typeface="Calibri" panose="020F0502020204030204" pitchFamily="34" charset="0"/>
                <a:cs typeface="Times New Roman" panose="02020603050405020304" pitchFamily="18" charset="0"/>
              </a:rPr>
              <a:t> Key: El token público firmado mediante el estándar JWT (JSON Web Token) que autoriza las transiciones asíncronas de datos sin comprometer los roles administrativos del servidor.</a:t>
            </a:r>
          </a:p>
        </p:txBody>
      </p:sp>
      <p:pic>
        <p:nvPicPr>
          <p:cNvPr id="3" name="Imagen 2">
            <a:extLst>
              <a:ext uri="{FF2B5EF4-FFF2-40B4-BE49-F238E27FC236}">
                <a16:creationId xmlns:a16="http://schemas.microsoft.com/office/drawing/2014/main" id="{97EF486D-F60D-459B-BD47-D42F96D9E8EE}"/>
              </a:ext>
            </a:extLst>
          </p:cNvPr>
          <p:cNvPicPr>
            <a:picLocks noChangeAspect="1"/>
          </p:cNvPicPr>
          <p:nvPr/>
        </p:nvPicPr>
        <p:blipFill>
          <a:blip r:embed="rId2"/>
          <a:stretch>
            <a:fillRect/>
          </a:stretch>
        </p:blipFill>
        <p:spPr>
          <a:xfrm>
            <a:off x="188685" y="2710244"/>
            <a:ext cx="5452616" cy="3298670"/>
          </a:xfrm>
          <a:prstGeom prst="rect">
            <a:avLst/>
          </a:prstGeom>
        </p:spPr>
      </p:pic>
      <p:pic>
        <p:nvPicPr>
          <p:cNvPr id="8" name="Imagen 7">
            <a:extLst>
              <a:ext uri="{FF2B5EF4-FFF2-40B4-BE49-F238E27FC236}">
                <a16:creationId xmlns:a16="http://schemas.microsoft.com/office/drawing/2014/main" id="{83B5A838-7280-4B89-904D-FCA2A9FD982D}"/>
              </a:ext>
            </a:extLst>
          </p:cNvPr>
          <p:cNvPicPr>
            <a:picLocks noChangeAspect="1"/>
          </p:cNvPicPr>
          <p:nvPr/>
        </p:nvPicPr>
        <p:blipFill>
          <a:blip r:embed="rId3"/>
          <a:stretch>
            <a:fillRect/>
          </a:stretch>
        </p:blipFill>
        <p:spPr>
          <a:xfrm>
            <a:off x="5791199" y="2735444"/>
            <a:ext cx="6212115" cy="3304872"/>
          </a:xfrm>
          <a:prstGeom prst="rect">
            <a:avLst/>
          </a:prstGeom>
        </p:spPr>
      </p:pic>
    </p:spTree>
    <p:extLst>
      <p:ext uri="{BB962C8B-B14F-4D97-AF65-F5344CB8AC3E}">
        <p14:creationId xmlns:p14="http://schemas.microsoft.com/office/powerpoint/2010/main" val="3255481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1287100" y="211033"/>
            <a:ext cx="10034043" cy="830997"/>
          </a:xfrm>
          <a:prstGeom prst="rect">
            <a:avLst/>
          </a:prstGeom>
          <a:noFill/>
        </p:spPr>
        <p:txBody>
          <a:bodyPr wrap="square" rtlCol="0">
            <a:spAutoFit/>
          </a:bodyPr>
          <a:lstStyle/>
          <a:p>
            <a:pPr algn="ctr"/>
            <a:r>
              <a:rPr lang="es-ES" sz="2400" b="1" dirty="0">
                <a:solidFill>
                  <a:srgbClr val="B48900"/>
                </a:solidFill>
                <a:latin typeface="Lucida Handwriting" panose="03010101010101010101" pitchFamily="66" charset="0"/>
                <a:cs typeface="Arial" panose="020B0604020202020204" pitchFamily="34" charset="0"/>
              </a:rPr>
              <a:t>Creación del Almacenamiento de Objetos (Storage </a:t>
            </a:r>
            <a:r>
              <a:rPr lang="es-ES" sz="2400" b="1" dirty="0" err="1">
                <a:solidFill>
                  <a:srgbClr val="B48900"/>
                </a:solidFill>
                <a:latin typeface="Lucida Handwriting" panose="03010101010101010101" pitchFamily="66" charset="0"/>
                <a:cs typeface="Arial" panose="020B0604020202020204" pitchFamily="34" charset="0"/>
              </a:rPr>
              <a:t>Bucket</a:t>
            </a:r>
            <a:r>
              <a:rPr lang="es-ES" sz="2400" b="1" dirty="0">
                <a:solidFill>
                  <a:srgbClr val="B48900"/>
                </a:solidFill>
                <a:latin typeface="Lucida Handwriting" panose="03010101010101010101" pitchFamily="66" charset="0"/>
                <a:cs typeface="Arial" panose="020B0604020202020204" pitchFamily="34" charset="0"/>
              </a:rPr>
              <a:t>):</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458D2B25-706C-4324-B6EF-767DE2B15B39}"/>
              </a:ext>
            </a:extLst>
          </p:cNvPr>
          <p:cNvSpPr txBox="1"/>
          <p:nvPr/>
        </p:nvSpPr>
        <p:spPr>
          <a:xfrm>
            <a:off x="1251284" y="1042030"/>
            <a:ext cx="9653616" cy="1345048"/>
          </a:xfrm>
          <a:prstGeom prst="rect">
            <a:avLst/>
          </a:prstGeom>
          <a:noFill/>
        </p:spPr>
        <p:txBody>
          <a:bodyPr wrap="square" rtlCol="0">
            <a:spAutoFit/>
          </a:bodyPr>
          <a:lstStyle/>
          <a:p>
            <a:pPr algn="just">
              <a:lnSpc>
                <a:spcPct val="150000"/>
              </a:lnSpc>
              <a:spcAft>
                <a:spcPts val="800"/>
              </a:spcAft>
            </a:pPr>
            <a:r>
              <a:rPr lang="es-ES" sz="1400">
                <a:effectLst/>
                <a:latin typeface="Arial" panose="020B0604020202020204" pitchFamily="34" charset="0"/>
                <a:ea typeface="Calibri" panose="020F0502020204030204" pitchFamily="34" charset="0"/>
                <a:cs typeface="Times New Roman" panose="02020603050405020304" pitchFamily="18" charset="0"/>
              </a:rPr>
              <a:t>Dado que las rutinas semanales implican la manipulación de archivos físicos binarios (como documentos en formato PDF), se configuró un contenedor de almacenamiento aislado e independiente de las tablas relacionales tradicionales:Nombre del contenedor: rutinas-pdfNivel de visibilidad: PUBLIC (Habilitado para permitir la lectura y descarga directa mediante URL web generadas dinámicamente por la aplicación).</a:t>
            </a:r>
            <a:endParaRPr lang="es-ES" sz="14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4" name="Imagen 3">
            <a:extLst>
              <a:ext uri="{FF2B5EF4-FFF2-40B4-BE49-F238E27FC236}">
                <a16:creationId xmlns:a16="http://schemas.microsoft.com/office/drawing/2014/main" id="{8F7DB745-2908-4523-A28B-00B172454D8F}"/>
              </a:ext>
            </a:extLst>
          </p:cNvPr>
          <p:cNvPicPr>
            <a:picLocks noChangeAspect="1"/>
          </p:cNvPicPr>
          <p:nvPr/>
        </p:nvPicPr>
        <p:blipFill>
          <a:blip r:embed="rId2"/>
          <a:stretch>
            <a:fillRect/>
          </a:stretch>
        </p:blipFill>
        <p:spPr>
          <a:xfrm>
            <a:off x="2087117" y="2543363"/>
            <a:ext cx="7780783" cy="4156296"/>
          </a:xfrm>
          <a:prstGeom prst="rect">
            <a:avLst/>
          </a:prstGeom>
        </p:spPr>
      </p:pic>
    </p:spTree>
    <p:extLst>
      <p:ext uri="{BB962C8B-B14F-4D97-AF65-F5344CB8AC3E}">
        <p14:creationId xmlns:p14="http://schemas.microsoft.com/office/powerpoint/2010/main" val="1640126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2575263" y="211033"/>
            <a:ext cx="7258548" cy="830997"/>
          </a:xfrm>
          <a:prstGeom prst="rect">
            <a:avLst/>
          </a:prstGeom>
          <a:noFill/>
        </p:spPr>
        <p:txBody>
          <a:bodyPr wrap="square" rtlCol="0">
            <a:spAutoFit/>
          </a:bodyPr>
          <a:lstStyle/>
          <a:p>
            <a:pPr algn="ctr"/>
            <a:r>
              <a:rPr lang="es-ES" sz="2400" b="1">
                <a:solidFill>
                  <a:srgbClr val="B48900"/>
                </a:solidFill>
                <a:latin typeface="Lucida Handwriting" panose="03010101010101010101" pitchFamily="66" charset="0"/>
                <a:cs typeface="Arial" panose="020B0604020202020204" pitchFamily="34" charset="0"/>
              </a:rPr>
              <a:t>Políticas de Control de Acceso y Seguridad de Almacenamiento (RLS):</a:t>
            </a:r>
            <a:endParaRPr lang="es-MX" sz="2400" b="1" dirty="0">
              <a:solidFill>
                <a:srgbClr val="B48900"/>
              </a:solidFill>
              <a:latin typeface="Lucida Handwriting" panose="03010101010101010101" pitchFamily="66" charset="0"/>
              <a:cs typeface="Arial" panose="020B0604020202020204" pitchFamily="34" charset="0"/>
            </a:endParaRPr>
          </a:p>
        </p:txBody>
      </p:sp>
      <p:sp>
        <p:nvSpPr>
          <p:cNvPr id="5" name="CuadroTexto 4">
            <a:extLst>
              <a:ext uri="{FF2B5EF4-FFF2-40B4-BE49-F238E27FC236}">
                <a16:creationId xmlns:a16="http://schemas.microsoft.com/office/drawing/2014/main" id="{458D2B25-706C-4324-B6EF-767DE2B15B39}"/>
              </a:ext>
            </a:extLst>
          </p:cNvPr>
          <p:cNvSpPr txBox="1"/>
          <p:nvPr/>
        </p:nvSpPr>
        <p:spPr>
          <a:xfrm>
            <a:off x="1377729" y="1037767"/>
            <a:ext cx="9653616" cy="1345048"/>
          </a:xfrm>
          <a:prstGeom prst="rect">
            <a:avLst/>
          </a:prstGeom>
          <a:noFill/>
        </p:spPr>
        <p:txBody>
          <a:bodyPr wrap="square" rtlCol="0">
            <a:spAutoFit/>
          </a:bodyPr>
          <a:lstStyle/>
          <a:p>
            <a:pPr algn="just">
              <a:lnSpc>
                <a:spcPct val="150000"/>
              </a:lnSpc>
              <a:spcAft>
                <a:spcPts val="800"/>
              </a:spcAft>
            </a:pPr>
            <a:r>
              <a:rPr lang="es-ES" sz="1400">
                <a:effectLst/>
                <a:latin typeface="Arial" panose="020B0604020202020204" pitchFamily="34" charset="0"/>
                <a:ea typeface="Calibri" panose="020F0502020204030204" pitchFamily="34" charset="0"/>
                <a:cs typeface="Times New Roman" panose="02020603050405020304" pitchFamily="18" charset="0"/>
              </a:rPr>
              <a:t>Por defecto, el motor de almacenamiento deniega cualquier inserción de datos externa para prevenir vulnerabilidades de desbordamiento o inyecciones maliciosas. Para permitir que la interfaz del Coach cargue planes de entrenamiento en el entorno local de desarrollo, se ejecutó un script en el Editor SQL que asocia una regla permisiva de inserción y lectura libre para roles de usuarios anónimos y autenticados sobre el ID del bucket específico.</a:t>
            </a:r>
            <a:endParaRPr lang="es-ES" sz="1400" dirty="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3" name="Imagen 2">
            <a:extLst>
              <a:ext uri="{FF2B5EF4-FFF2-40B4-BE49-F238E27FC236}">
                <a16:creationId xmlns:a16="http://schemas.microsoft.com/office/drawing/2014/main" id="{5591F677-471F-444C-AC92-090DCBF7FA0B}"/>
              </a:ext>
            </a:extLst>
          </p:cNvPr>
          <p:cNvPicPr>
            <a:picLocks noChangeAspect="1"/>
          </p:cNvPicPr>
          <p:nvPr/>
        </p:nvPicPr>
        <p:blipFill>
          <a:blip r:embed="rId2"/>
          <a:stretch>
            <a:fillRect/>
          </a:stretch>
        </p:blipFill>
        <p:spPr>
          <a:xfrm>
            <a:off x="1808136" y="2722341"/>
            <a:ext cx="8792802" cy="3505689"/>
          </a:xfrm>
          <a:prstGeom prst="rect">
            <a:avLst/>
          </a:prstGeom>
        </p:spPr>
      </p:pic>
    </p:spTree>
    <p:extLst>
      <p:ext uri="{BB962C8B-B14F-4D97-AF65-F5344CB8AC3E}">
        <p14:creationId xmlns:p14="http://schemas.microsoft.com/office/powerpoint/2010/main" val="1951916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2575263" y="211033"/>
            <a:ext cx="7258548" cy="461665"/>
          </a:xfrm>
          <a:prstGeom prst="rect">
            <a:avLst/>
          </a:prstGeom>
          <a:noFill/>
        </p:spPr>
        <p:txBody>
          <a:bodyPr wrap="square" rtlCol="0">
            <a:spAutoFit/>
          </a:bodyPr>
          <a:lstStyle/>
          <a:p>
            <a:pPr algn="ctr"/>
            <a:r>
              <a:rPr lang="es-ES" sz="2400" b="1" dirty="0">
                <a:solidFill>
                  <a:srgbClr val="B48900"/>
                </a:solidFill>
                <a:latin typeface="Lucida Handwriting" panose="03010101010101010101" pitchFamily="66" charset="0"/>
                <a:cs typeface="Arial" panose="020B0604020202020204" pitchFamily="34" charset="0"/>
              </a:rPr>
              <a:t>Resultados</a:t>
            </a:r>
            <a:endParaRPr lang="es-MX" sz="2400" b="1" dirty="0">
              <a:solidFill>
                <a:srgbClr val="B48900"/>
              </a:solidFill>
              <a:latin typeface="Lucida Handwriting" panose="03010101010101010101" pitchFamily="66" charset="0"/>
              <a:cs typeface="Arial" panose="020B0604020202020204" pitchFamily="34" charset="0"/>
            </a:endParaRPr>
          </a:p>
        </p:txBody>
      </p:sp>
      <p:pic>
        <p:nvPicPr>
          <p:cNvPr id="5" name="Imagen 4">
            <a:extLst>
              <a:ext uri="{FF2B5EF4-FFF2-40B4-BE49-F238E27FC236}">
                <a16:creationId xmlns:a16="http://schemas.microsoft.com/office/drawing/2014/main" id="{F7129E4A-4C1B-4359-A1E2-09E23CD8D9A9}"/>
              </a:ext>
            </a:extLst>
          </p:cNvPr>
          <p:cNvPicPr/>
          <p:nvPr/>
        </p:nvPicPr>
        <p:blipFill>
          <a:blip r:embed="rId2"/>
          <a:stretch>
            <a:fillRect/>
          </a:stretch>
        </p:blipFill>
        <p:spPr>
          <a:xfrm>
            <a:off x="2146935" y="1245870"/>
            <a:ext cx="8220276" cy="4907280"/>
          </a:xfrm>
          <a:prstGeom prst="rect">
            <a:avLst/>
          </a:prstGeom>
        </p:spPr>
      </p:pic>
    </p:spTree>
    <p:extLst>
      <p:ext uri="{BB962C8B-B14F-4D97-AF65-F5344CB8AC3E}">
        <p14:creationId xmlns:p14="http://schemas.microsoft.com/office/powerpoint/2010/main" val="2386188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3425493-98DA-4BD4-9BA3-3892663E3D29}"/>
              </a:ext>
            </a:extLst>
          </p:cNvPr>
          <p:cNvSpPr txBox="1"/>
          <p:nvPr/>
        </p:nvSpPr>
        <p:spPr>
          <a:xfrm>
            <a:off x="2575263" y="211033"/>
            <a:ext cx="7258548" cy="461665"/>
          </a:xfrm>
          <a:prstGeom prst="rect">
            <a:avLst/>
          </a:prstGeom>
          <a:noFill/>
        </p:spPr>
        <p:txBody>
          <a:bodyPr wrap="square" rtlCol="0">
            <a:spAutoFit/>
          </a:bodyPr>
          <a:lstStyle/>
          <a:p>
            <a:pPr algn="ctr"/>
            <a:r>
              <a:rPr lang="es-ES" sz="2400" b="1" dirty="0">
                <a:solidFill>
                  <a:srgbClr val="B48900"/>
                </a:solidFill>
                <a:latin typeface="Lucida Handwriting" panose="03010101010101010101" pitchFamily="66" charset="0"/>
                <a:cs typeface="Arial" panose="020B0604020202020204" pitchFamily="34" charset="0"/>
              </a:rPr>
              <a:t>Resultados</a:t>
            </a:r>
          </a:p>
        </p:txBody>
      </p:sp>
      <p:pic>
        <p:nvPicPr>
          <p:cNvPr id="4" name="Imagen 3">
            <a:extLst>
              <a:ext uri="{FF2B5EF4-FFF2-40B4-BE49-F238E27FC236}">
                <a16:creationId xmlns:a16="http://schemas.microsoft.com/office/drawing/2014/main" id="{00C2C3EF-3746-46C7-96A0-A1747A64F83A}"/>
              </a:ext>
            </a:extLst>
          </p:cNvPr>
          <p:cNvPicPr/>
          <p:nvPr/>
        </p:nvPicPr>
        <p:blipFill>
          <a:blip r:embed="rId2"/>
          <a:stretch>
            <a:fillRect/>
          </a:stretch>
        </p:blipFill>
        <p:spPr>
          <a:xfrm>
            <a:off x="2575263" y="1568132"/>
            <a:ext cx="7258548" cy="3721735"/>
          </a:xfrm>
          <a:prstGeom prst="rect">
            <a:avLst/>
          </a:prstGeom>
        </p:spPr>
      </p:pic>
    </p:spTree>
    <p:extLst>
      <p:ext uri="{BB962C8B-B14F-4D97-AF65-F5344CB8AC3E}">
        <p14:creationId xmlns:p14="http://schemas.microsoft.com/office/powerpoint/2010/main" val="3383569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F9F5-AD65-40E6-A7EA-0157D52FC819}"/>
              </a:ext>
            </a:extLst>
          </p:cNvPr>
          <p:cNvSpPr>
            <a:spLocks noGrp="1"/>
          </p:cNvSpPr>
          <p:nvPr>
            <p:ph type="title"/>
          </p:nvPr>
        </p:nvSpPr>
        <p:spPr>
          <a:xfrm>
            <a:off x="3322504" y="380075"/>
            <a:ext cx="5546986" cy="1448685"/>
          </a:xfrm>
        </p:spPr>
        <p:txBody>
          <a:bodyPr>
            <a:normAutofit/>
          </a:bodyPr>
          <a:lstStyle/>
          <a:p>
            <a:pPr algn="ctr"/>
            <a:r>
              <a:rPr lang="es-MX" sz="6000" dirty="0">
                <a:solidFill>
                  <a:srgbClr val="002060"/>
                </a:solidFill>
                <a:latin typeface="Algerian" panose="04020705040A02060702" pitchFamily="82" charset="0"/>
              </a:rPr>
              <a:t>Conclusión</a:t>
            </a:r>
          </a:p>
        </p:txBody>
      </p:sp>
      <p:sp>
        <p:nvSpPr>
          <p:cNvPr id="3" name="CuadroTexto 2">
            <a:extLst>
              <a:ext uri="{FF2B5EF4-FFF2-40B4-BE49-F238E27FC236}">
                <a16:creationId xmlns:a16="http://schemas.microsoft.com/office/drawing/2014/main" id="{36F7972C-2346-4203-BDA8-07E02874CEEA}"/>
              </a:ext>
            </a:extLst>
          </p:cNvPr>
          <p:cNvSpPr txBox="1"/>
          <p:nvPr/>
        </p:nvSpPr>
        <p:spPr>
          <a:xfrm>
            <a:off x="620415" y="1662441"/>
            <a:ext cx="10951164" cy="3001334"/>
          </a:xfrm>
          <a:prstGeom prst="rect">
            <a:avLst/>
          </a:prstGeom>
          <a:noFill/>
        </p:spPr>
        <p:txBody>
          <a:bodyPr wrap="square" rtlCol="0">
            <a:spAutoFit/>
          </a:bodyPr>
          <a:lstStyle/>
          <a:p>
            <a:pPr algn="just">
              <a:lnSpc>
                <a:spcPct val="150000"/>
              </a:lnSpc>
            </a:pPr>
            <a:r>
              <a:rPr lang="es-ES" sz="1600" dirty="0">
                <a:latin typeface="Arial" panose="020B0604020202020204" pitchFamily="34" charset="0"/>
                <a:cs typeface="Arial" panose="020B0604020202020204" pitchFamily="34" charset="0"/>
              </a:rPr>
              <a:t>El desarrollo e implantación de </a:t>
            </a:r>
            <a:r>
              <a:rPr lang="es-ES" sz="1600" dirty="0" err="1">
                <a:latin typeface="Arial" panose="020B0604020202020204" pitchFamily="34" charset="0"/>
                <a:cs typeface="Arial" panose="020B0604020202020204" pitchFamily="34" charset="0"/>
              </a:rPr>
              <a:t>GymPro</a:t>
            </a:r>
            <a:r>
              <a:rPr lang="es-ES" sz="1600" dirty="0">
                <a:latin typeface="Arial" panose="020B0604020202020204" pitchFamily="34" charset="0"/>
                <a:cs typeface="Arial" panose="020B0604020202020204" pitchFamily="34" charset="0"/>
              </a:rPr>
              <a:t> concluye con éxito, cumpliendo rigurosamente con los objetivos técnicos de una aplicación web full-</a:t>
            </a:r>
            <a:r>
              <a:rPr lang="es-ES" sz="1600" dirty="0" err="1">
                <a:latin typeface="Arial" panose="020B0604020202020204" pitchFamily="34" charset="0"/>
                <a:cs typeface="Arial" panose="020B0604020202020204" pitchFamily="34" charset="0"/>
              </a:rPr>
              <a:t>stack</a:t>
            </a:r>
            <a:r>
              <a:rPr lang="es-ES" sz="1600" dirty="0">
                <a:latin typeface="Arial" panose="020B0604020202020204" pitchFamily="34" charset="0"/>
                <a:cs typeface="Arial" panose="020B0604020202020204" pitchFamily="34" charset="0"/>
              </a:rPr>
              <a:t> de última generación. A través de este proyecto se demostró que el uso de arquitecturas desacopladas (Angular + </a:t>
            </a:r>
            <a:r>
              <a:rPr lang="es-ES" sz="1600" dirty="0" err="1">
                <a:latin typeface="Arial" panose="020B0604020202020204" pitchFamily="34" charset="0"/>
                <a:cs typeface="Arial" panose="020B0604020202020204" pitchFamily="34" charset="0"/>
              </a:rPr>
              <a:t>Supabase</a:t>
            </a:r>
            <a:r>
              <a:rPr lang="es-ES" sz="1600" dirty="0">
                <a:latin typeface="Arial" panose="020B0604020202020204" pitchFamily="34" charset="0"/>
                <a:cs typeface="Arial" panose="020B0604020202020204" pitchFamily="34" charset="0"/>
              </a:rPr>
              <a:t>) permite crear plataformas altamente eficientes, escalables y seguras en tiempos de desarrollo </a:t>
            </a:r>
            <a:r>
              <a:rPr lang="es-ES" sz="1600" dirty="0" err="1">
                <a:latin typeface="Arial" panose="020B0604020202020204" pitchFamily="34" charset="0"/>
                <a:cs typeface="Arial" panose="020B0604020202020204" pitchFamily="34" charset="0"/>
              </a:rPr>
              <a:t>óptimos.La</a:t>
            </a:r>
            <a:r>
              <a:rPr lang="es-ES" sz="1600" dirty="0">
                <a:latin typeface="Arial" panose="020B0604020202020204" pitchFamily="34" charset="0"/>
                <a:cs typeface="Arial" panose="020B0604020202020204" pitchFamily="34" charset="0"/>
              </a:rPr>
              <a:t> correcta integración de la base de datos relacional, la purificación sistemática de archivos en la capa de servicios para erradicar errores de API, la manipulación reactiva del DOM y la rigurosa protección de datos premium garantizan un producto de software maduro. </a:t>
            </a:r>
            <a:r>
              <a:rPr lang="es-ES" sz="1600" dirty="0" err="1">
                <a:latin typeface="Arial" panose="020B0604020202020204" pitchFamily="34" charset="0"/>
                <a:cs typeface="Arial" panose="020B0604020202020204" pitchFamily="34" charset="0"/>
              </a:rPr>
              <a:t>GymPro</a:t>
            </a:r>
            <a:r>
              <a:rPr lang="es-ES" sz="1600" dirty="0">
                <a:latin typeface="Arial" panose="020B0604020202020204" pitchFamily="34" charset="0"/>
                <a:cs typeface="Arial" panose="020B0604020202020204" pitchFamily="34" charset="0"/>
              </a:rPr>
              <a:t> no solo mitiga la problemática de la gestión manual en los centros deportivos, sino que establece una infraestructura digital robusta lista para incorporar analíticas avanzadas de rendimiento físico en futuras iteraciones.</a:t>
            </a:r>
            <a:endParaRPr lang="es-MX"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076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1EF9F5-AD65-40E6-A7EA-0157D52FC819}"/>
              </a:ext>
            </a:extLst>
          </p:cNvPr>
          <p:cNvSpPr>
            <a:spLocks noGrp="1"/>
          </p:cNvSpPr>
          <p:nvPr>
            <p:ph type="title"/>
          </p:nvPr>
        </p:nvSpPr>
        <p:spPr>
          <a:xfrm>
            <a:off x="2209046" y="380075"/>
            <a:ext cx="6660444" cy="1448685"/>
          </a:xfrm>
        </p:spPr>
        <p:txBody>
          <a:bodyPr>
            <a:normAutofit/>
          </a:bodyPr>
          <a:lstStyle/>
          <a:p>
            <a:pPr algn="ctr"/>
            <a:r>
              <a:rPr lang="es-MX" sz="6000" dirty="0">
                <a:solidFill>
                  <a:srgbClr val="002060"/>
                </a:solidFill>
                <a:latin typeface="Algerian" panose="04020705040A02060702" pitchFamily="82" charset="0"/>
              </a:rPr>
              <a:t>Repositorio </a:t>
            </a:r>
            <a:r>
              <a:rPr lang="es-MX" sz="6000" dirty="0" err="1">
                <a:solidFill>
                  <a:srgbClr val="002060"/>
                </a:solidFill>
                <a:latin typeface="Algerian" panose="04020705040A02060702" pitchFamily="82" charset="0"/>
              </a:rPr>
              <a:t>git</a:t>
            </a:r>
            <a:endParaRPr lang="es-MX" sz="6000" dirty="0">
              <a:solidFill>
                <a:srgbClr val="002060"/>
              </a:solidFill>
              <a:latin typeface="Algerian" panose="04020705040A02060702" pitchFamily="82" charset="0"/>
            </a:endParaRPr>
          </a:p>
        </p:txBody>
      </p:sp>
      <p:sp>
        <p:nvSpPr>
          <p:cNvPr id="3" name="CuadroTexto 2">
            <a:extLst>
              <a:ext uri="{FF2B5EF4-FFF2-40B4-BE49-F238E27FC236}">
                <a16:creationId xmlns:a16="http://schemas.microsoft.com/office/drawing/2014/main" id="{36F7972C-2346-4203-BDA8-07E02874CEEA}"/>
              </a:ext>
            </a:extLst>
          </p:cNvPr>
          <p:cNvSpPr txBox="1"/>
          <p:nvPr/>
        </p:nvSpPr>
        <p:spPr>
          <a:xfrm>
            <a:off x="3159659" y="1662441"/>
            <a:ext cx="4508626" cy="416011"/>
          </a:xfrm>
          <a:prstGeom prst="rect">
            <a:avLst/>
          </a:prstGeom>
          <a:noFill/>
        </p:spPr>
        <p:txBody>
          <a:bodyPr wrap="square" rtlCol="0">
            <a:spAutoFit/>
          </a:bodyPr>
          <a:lstStyle/>
          <a:p>
            <a:pPr algn="just">
              <a:lnSpc>
                <a:spcPct val="150000"/>
              </a:lnSpc>
            </a:pPr>
            <a:r>
              <a:rPr lang="es-ES" sz="1600">
                <a:latin typeface="Arial" panose="020B0604020202020204" pitchFamily="34" charset="0"/>
                <a:cs typeface="Arial" panose="020B0604020202020204" pitchFamily="34" charset="0"/>
              </a:rPr>
              <a:t>https://github.com/XLe6310597/PW-TEMA-4.git</a:t>
            </a:r>
            <a:endParaRPr lang="es-MX"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357790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3104</TotalTime>
  <Words>1177</Words>
  <Application>Microsoft Office PowerPoint</Application>
  <PresentationFormat>Panorámica</PresentationFormat>
  <Paragraphs>44</Paragraphs>
  <Slides>15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vt:i4>
      </vt:variant>
    </vt:vector>
  </HeadingPairs>
  <TitlesOfParts>
    <vt:vector size="21" baseType="lpstr">
      <vt:lpstr>Algerian</vt:lpstr>
      <vt:lpstr>Arial</vt:lpstr>
      <vt:lpstr>Calibri</vt:lpstr>
      <vt:lpstr>Calibri Light</vt:lpstr>
      <vt:lpstr>Lucida Handwriting</vt:lpstr>
      <vt:lpstr>Tema de Office</vt:lpstr>
      <vt:lpstr>Presentación de PowerPoint</vt:lpstr>
      <vt:lpstr>Introducción</vt:lpstr>
      <vt:lpstr>Justificación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Conclusión</vt:lpstr>
      <vt:lpstr>Repositorio git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
  <cp:lastModifiedBy>Aldrich Humberto Irena Ramirez</cp:lastModifiedBy>
  <cp:revision>273</cp:revision>
  <dcterms:created xsi:type="dcterms:W3CDTF">2025-09-19T02:13:47Z</dcterms:created>
  <dcterms:modified xsi:type="dcterms:W3CDTF">2026-06-14T07:02:57Z</dcterms:modified>
</cp:coreProperties>
</file>