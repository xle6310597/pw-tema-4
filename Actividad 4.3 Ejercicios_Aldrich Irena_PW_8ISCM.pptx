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Lst>
  <p:sldIdLst>
    <p:sldId id="256" r:id="rId2"/>
    <p:sldId id="344" r:id="rId3"/>
    <p:sldId id="365" r:id="rId4"/>
    <p:sldId id="367" r:id="rId5"/>
    <p:sldId id="368" r:id="rId6"/>
    <p:sldId id="372" r:id="rId7"/>
    <p:sldId id="371" r:id="rId8"/>
    <p:sldId id="373" r:id="rId9"/>
    <p:sldId id="370" r:id="rId10"/>
    <p:sldId id="374" r:id="rId11"/>
    <p:sldId id="375" r:id="rId12"/>
    <p:sldId id="376" r:id="rId13"/>
    <p:sldId id="377" r:id="rId14"/>
    <p:sldId id="357" r:id="rId15"/>
    <p:sldId id="378" r:id="rId1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8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249" autoAdjust="0"/>
  </p:normalViewPr>
  <p:slideViewPr>
    <p:cSldViewPr snapToGrid="0">
      <p:cViewPr varScale="1">
        <p:scale>
          <a:sx n="106" d="100"/>
          <a:sy n="106" d="100"/>
        </p:scale>
        <p:origin x="792" y="114"/>
      </p:cViewPr>
      <p:guideLst/>
    </p:cSldViewPr>
  </p:slideViewPr>
  <p:outlineViewPr>
    <p:cViewPr>
      <p:scale>
        <a:sx n="33" d="100"/>
        <a:sy n="33" d="100"/>
      </p:scale>
      <p:origin x="0" y="-320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7C2297-9FA8-42BE-B109-CEC29BB018B4}"/>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p>
        </p:txBody>
      </p:sp>
      <p:sp>
        <p:nvSpPr>
          <p:cNvPr id="3" name="Subtítulo 2">
            <a:extLst>
              <a:ext uri="{FF2B5EF4-FFF2-40B4-BE49-F238E27FC236}">
                <a16:creationId xmlns:a16="http://schemas.microsoft.com/office/drawing/2014/main" id="{B2AF2A4D-A498-405F-A975-9A05744FE1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p>
        </p:txBody>
      </p:sp>
      <p:sp>
        <p:nvSpPr>
          <p:cNvPr id="4" name="Marcador de fecha 3">
            <a:extLst>
              <a:ext uri="{FF2B5EF4-FFF2-40B4-BE49-F238E27FC236}">
                <a16:creationId xmlns:a16="http://schemas.microsoft.com/office/drawing/2014/main" id="{0A61699C-D57B-4DB5-B5CB-291A8AC8ED76}"/>
              </a:ext>
            </a:extLst>
          </p:cNvPr>
          <p:cNvSpPr>
            <a:spLocks noGrp="1"/>
          </p:cNvSpPr>
          <p:nvPr>
            <p:ph type="dt" sz="half" idx="10"/>
          </p:nvPr>
        </p:nvSpPr>
        <p:spPr/>
        <p:txBody>
          <a:bodyPr/>
          <a:lstStyle/>
          <a:p>
            <a:fld id="{46CE85F9-1A61-426A-B6FC-53DBEBBF1C0A}" type="datetimeFigureOut">
              <a:rPr lang="es-MX" smtClean="0"/>
              <a:t>14/06/2026</a:t>
            </a:fld>
            <a:endParaRPr lang="es-MX"/>
          </a:p>
        </p:txBody>
      </p:sp>
      <p:sp>
        <p:nvSpPr>
          <p:cNvPr id="5" name="Marcador de pie de página 4">
            <a:extLst>
              <a:ext uri="{FF2B5EF4-FFF2-40B4-BE49-F238E27FC236}">
                <a16:creationId xmlns:a16="http://schemas.microsoft.com/office/drawing/2014/main" id="{6130B543-FB32-4388-B164-759273F1999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DF7E5F9-0C5C-49F5-8160-C5AFB07912DD}"/>
              </a:ext>
            </a:extLst>
          </p:cNvPr>
          <p:cNvSpPr>
            <a:spLocks noGrp="1"/>
          </p:cNvSpPr>
          <p:nvPr>
            <p:ph type="sldNum" sz="quarter" idx="12"/>
          </p:nvPr>
        </p:nvSpPr>
        <p:spPr/>
        <p:txBody>
          <a:bodyPr/>
          <a:lstStyle/>
          <a:p>
            <a:fld id="{04EF272B-8E96-46A0-9E6E-0429FDB5489F}" type="slidenum">
              <a:rPr lang="es-MX" smtClean="0"/>
              <a:t>‹Nº›</a:t>
            </a:fld>
            <a:endParaRPr lang="es-MX"/>
          </a:p>
        </p:txBody>
      </p:sp>
    </p:spTree>
    <p:extLst>
      <p:ext uri="{BB962C8B-B14F-4D97-AF65-F5344CB8AC3E}">
        <p14:creationId xmlns:p14="http://schemas.microsoft.com/office/powerpoint/2010/main" val="913279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002BB4-6775-4611-9BE8-3243B4EE9570}"/>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3D91E02A-DD7E-484E-AFF8-F05E8C641678}"/>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46BC84E0-DECA-445F-ACD2-BEA9B1E42E05}"/>
              </a:ext>
            </a:extLst>
          </p:cNvPr>
          <p:cNvSpPr>
            <a:spLocks noGrp="1"/>
          </p:cNvSpPr>
          <p:nvPr>
            <p:ph type="dt" sz="half" idx="10"/>
          </p:nvPr>
        </p:nvSpPr>
        <p:spPr/>
        <p:txBody>
          <a:bodyPr/>
          <a:lstStyle/>
          <a:p>
            <a:fld id="{46CE85F9-1A61-426A-B6FC-53DBEBBF1C0A}" type="datetimeFigureOut">
              <a:rPr lang="es-MX" smtClean="0"/>
              <a:t>14/06/2026</a:t>
            </a:fld>
            <a:endParaRPr lang="es-MX"/>
          </a:p>
        </p:txBody>
      </p:sp>
      <p:sp>
        <p:nvSpPr>
          <p:cNvPr id="5" name="Marcador de pie de página 4">
            <a:extLst>
              <a:ext uri="{FF2B5EF4-FFF2-40B4-BE49-F238E27FC236}">
                <a16:creationId xmlns:a16="http://schemas.microsoft.com/office/drawing/2014/main" id="{C06E1EE2-8574-4CF3-9499-53C81AC8D31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AC6B02D-0E5A-4FFB-B8D1-867ECA497F52}"/>
              </a:ext>
            </a:extLst>
          </p:cNvPr>
          <p:cNvSpPr>
            <a:spLocks noGrp="1"/>
          </p:cNvSpPr>
          <p:nvPr>
            <p:ph type="sldNum" sz="quarter" idx="12"/>
          </p:nvPr>
        </p:nvSpPr>
        <p:spPr/>
        <p:txBody>
          <a:bodyPr/>
          <a:lstStyle/>
          <a:p>
            <a:fld id="{04EF272B-8E96-46A0-9E6E-0429FDB5489F}" type="slidenum">
              <a:rPr lang="es-MX" smtClean="0"/>
              <a:t>‹Nº›</a:t>
            </a:fld>
            <a:endParaRPr lang="es-MX"/>
          </a:p>
        </p:txBody>
      </p:sp>
    </p:spTree>
    <p:extLst>
      <p:ext uri="{BB962C8B-B14F-4D97-AF65-F5344CB8AC3E}">
        <p14:creationId xmlns:p14="http://schemas.microsoft.com/office/powerpoint/2010/main" val="3509431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E7DA1A-37E9-491E-8A2D-68D982321F22}"/>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p>
        </p:txBody>
      </p:sp>
      <p:sp>
        <p:nvSpPr>
          <p:cNvPr id="3" name="Marcador de texto 2">
            <a:extLst>
              <a:ext uri="{FF2B5EF4-FFF2-40B4-BE49-F238E27FC236}">
                <a16:creationId xmlns:a16="http://schemas.microsoft.com/office/drawing/2014/main" id="{F28155C0-A819-464C-987C-155877342FD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12E2DB2D-1344-4544-AC4E-AF2540E78DDB}"/>
              </a:ext>
            </a:extLst>
          </p:cNvPr>
          <p:cNvSpPr>
            <a:spLocks noGrp="1"/>
          </p:cNvSpPr>
          <p:nvPr>
            <p:ph type="dt" sz="half" idx="10"/>
          </p:nvPr>
        </p:nvSpPr>
        <p:spPr/>
        <p:txBody>
          <a:bodyPr/>
          <a:lstStyle/>
          <a:p>
            <a:fld id="{46CE85F9-1A61-426A-B6FC-53DBEBBF1C0A}" type="datetimeFigureOut">
              <a:rPr lang="es-MX" smtClean="0"/>
              <a:t>14/06/2026</a:t>
            </a:fld>
            <a:endParaRPr lang="es-MX"/>
          </a:p>
        </p:txBody>
      </p:sp>
      <p:sp>
        <p:nvSpPr>
          <p:cNvPr id="5" name="Marcador de pie de página 4">
            <a:extLst>
              <a:ext uri="{FF2B5EF4-FFF2-40B4-BE49-F238E27FC236}">
                <a16:creationId xmlns:a16="http://schemas.microsoft.com/office/drawing/2014/main" id="{F4222821-D2C8-48A5-8F6F-700F9693F7C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9C0F811-CDCB-4CB0-89C4-119E5E17B30B}"/>
              </a:ext>
            </a:extLst>
          </p:cNvPr>
          <p:cNvSpPr>
            <a:spLocks noGrp="1"/>
          </p:cNvSpPr>
          <p:nvPr>
            <p:ph type="sldNum" sz="quarter" idx="12"/>
          </p:nvPr>
        </p:nvSpPr>
        <p:spPr/>
        <p:txBody>
          <a:bodyPr/>
          <a:lstStyle/>
          <a:p>
            <a:fld id="{04EF272B-8E96-46A0-9E6E-0429FDB5489F}" type="slidenum">
              <a:rPr lang="es-MX" smtClean="0"/>
              <a:t>‹Nº›</a:t>
            </a:fld>
            <a:endParaRPr lang="es-MX"/>
          </a:p>
        </p:txBody>
      </p:sp>
    </p:spTree>
    <p:extLst>
      <p:ext uri="{BB962C8B-B14F-4D97-AF65-F5344CB8AC3E}">
        <p14:creationId xmlns:p14="http://schemas.microsoft.com/office/powerpoint/2010/main" val="3244966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567608-0D01-48D1-A38E-48550DE8E871}"/>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C005D979-6305-4E53-82D2-9A26C0BBAE8C}"/>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A07F9541-AE42-42FB-89E9-2A5095ED3BBE}"/>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E4FE5C79-7070-4BBD-96F3-4D853EE8983F}"/>
              </a:ext>
            </a:extLst>
          </p:cNvPr>
          <p:cNvSpPr>
            <a:spLocks noGrp="1"/>
          </p:cNvSpPr>
          <p:nvPr>
            <p:ph type="dt" sz="half" idx="10"/>
          </p:nvPr>
        </p:nvSpPr>
        <p:spPr/>
        <p:txBody>
          <a:bodyPr/>
          <a:lstStyle/>
          <a:p>
            <a:fld id="{46CE85F9-1A61-426A-B6FC-53DBEBBF1C0A}" type="datetimeFigureOut">
              <a:rPr lang="es-MX" smtClean="0"/>
              <a:t>14/06/2026</a:t>
            </a:fld>
            <a:endParaRPr lang="es-MX"/>
          </a:p>
        </p:txBody>
      </p:sp>
      <p:sp>
        <p:nvSpPr>
          <p:cNvPr id="6" name="Marcador de pie de página 5">
            <a:extLst>
              <a:ext uri="{FF2B5EF4-FFF2-40B4-BE49-F238E27FC236}">
                <a16:creationId xmlns:a16="http://schemas.microsoft.com/office/drawing/2014/main" id="{9153D8C4-7733-499E-8BD7-CA12E80D8DB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07AAAE3-169A-4385-88EC-1879A4A92397}"/>
              </a:ext>
            </a:extLst>
          </p:cNvPr>
          <p:cNvSpPr>
            <a:spLocks noGrp="1"/>
          </p:cNvSpPr>
          <p:nvPr>
            <p:ph type="sldNum" sz="quarter" idx="12"/>
          </p:nvPr>
        </p:nvSpPr>
        <p:spPr/>
        <p:txBody>
          <a:bodyPr/>
          <a:lstStyle/>
          <a:p>
            <a:fld id="{04EF272B-8E96-46A0-9E6E-0429FDB5489F}" type="slidenum">
              <a:rPr lang="es-MX" smtClean="0"/>
              <a:t>‹Nº›</a:t>
            </a:fld>
            <a:endParaRPr lang="es-MX"/>
          </a:p>
        </p:txBody>
      </p:sp>
    </p:spTree>
    <p:extLst>
      <p:ext uri="{BB962C8B-B14F-4D97-AF65-F5344CB8AC3E}">
        <p14:creationId xmlns:p14="http://schemas.microsoft.com/office/powerpoint/2010/main" val="1270321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9515EA-7041-4851-9DC3-B7DE58FE36DB}"/>
              </a:ext>
            </a:extLst>
          </p:cNvPr>
          <p:cNvSpPr>
            <a:spLocks noGrp="1"/>
          </p:cNvSpPr>
          <p:nvPr>
            <p:ph type="title"/>
          </p:nvPr>
        </p:nvSpPr>
        <p:spPr>
          <a:xfrm>
            <a:off x="839788" y="365125"/>
            <a:ext cx="10515600" cy="1325563"/>
          </a:xfrm>
        </p:spPr>
        <p:txBody>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31DC1B1C-927B-48CB-A6DC-D1D34709EA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593F8ECF-3BAC-48CF-8552-EC12413F9170}"/>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E2964CFA-12CB-4FEF-A269-C838A67BF5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6C64830E-E038-41F4-A114-AE3597D88FA3}"/>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87CECF40-FD68-40EE-8C61-1EB2392EB3F8}"/>
              </a:ext>
            </a:extLst>
          </p:cNvPr>
          <p:cNvSpPr>
            <a:spLocks noGrp="1"/>
          </p:cNvSpPr>
          <p:nvPr>
            <p:ph type="dt" sz="half" idx="10"/>
          </p:nvPr>
        </p:nvSpPr>
        <p:spPr/>
        <p:txBody>
          <a:bodyPr/>
          <a:lstStyle/>
          <a:p>
            <a:fld id="{46CE85F9-1A61-426A-B6FC-53DBEBBF1C0A}" type="datetimeFigureOut">
              <a:rPr lang="es-MX" smtClean="0"/>
              <a:t>14/06/2026</a:t>
            </a:fld>
            <a:endParaRPr lang="es-MX"/>
          </a:p>
        </p:txBody>
      </p:sp>
      <p:sp>
        <p:nvSpPr>
          <p:cNvPr id="8" name="Marcador de pie de página 7">
            <a:extLst>
              <a:ext uri="{FF2B5EF4-FFF2-40B4-BE49-F238E27FC236}">
                <a16:creationId xmlns:a16="http://schemas.microsoft.com/office/drawing/2014/main" id="{61B62EFF-F724-4679-AF45-0FDFF4F384BC}"/>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E450AAE8-A2A8-468A-B534-3CA4A0181D88}"/>
              </a:ext>
            </a:extLst>
          </p:cNvPr>
          <p:cNvSpPr>
            <a:spLocks noGrp="1"/>
          </p:cNvSpPr>
          <p:nvPr>
            <p:ph type="sldNum" sz="quarter" idx="12"/>
          </p:nvPr>
        </p:nvSpPr>
        <p:spPr/>
        <p:txBody>
          <a:bodyPr/>
          <a:lstStyle/>
          <a:p>
            <a:fld id="{04EF272B-8E96-46A0-9E6E-0429FDB5489F}" type="slidenum">
              <a:rPr lang="es-MX" smtClean="0"/>
              <a:t>‹Nº›</a:t>
            </a:fld>
            <a:endParaRPr lang="es-MX"/>
          </a:p>
        </p:txBody>
      </p:sp>
    </p:spTree>
    <p:extLst>
      <p:ext uri="{BB962C8B-B14F-4D97-AF65-F5344CB8AC3E}">
        <p14:creationId xmlns:p14="http://schemas.microsoft.com/office/powerpoint/2010/main" val="2336363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6D3D1A-E5B3-4AE6-83C1-1EFED122749D}"/>
              </a:ext>
            </a:extLst>
          </p:cNvPr>
          <p:cNvSpPr>
            <a:spLocks noGrp="1"/>
          </p:cNvSpPr>
          <p:nvPr>
            <p:ph type="title"/>
          </p:nvPr>
        </p:nvSpPr>
        <p:spPr/>
        <p:txBody>
          <a:bodyPr/>
          <a:lstStyle/>
          <a:p>
            <a:r>
              <a:rPr lang="es-MX"/>
              <a:t>Haz clic para modificar el estilo de título del patrón</a:t>
            </a:r>
          </a:p>
        </p:txBody>
      </p:sp>
      <p:sp>
        <p:nvSpPr>
          <p:cNvPr id="3" name="Marcador de fecha 2">
            <a:extLst>
              <a:ext uri="{FF2B5EF4-FFF2-40B4-BE49-F238E27FC236}">
                <a16:creationId xmlns:a16="http://schemas.microsoft.com/office/drawing/2014/main" id="{E2B04AD4-59F0-4AEE-9304-DC84FBEE4D8F}"/>
              </a:ext>
            </a:extLst>
          </p:cNvPr>
          <p:cNvSpPr>
            <a:spLocks noGrp="1"/>
          </p:cNvSpPr>
          <p:nvPr>
            <p:ph type="dt" sz="half" idx="10"/>
          </p:nvPr>
        </p:nvSpPr>
        <p:spPr/>
        <p:txBody>
          <a:bodyPr/>
          <a:lstStyle/>
          <a:p>
            <a:fld id="{46CE85F9-1A61-426A-B6FC-53DBEBBF1C0A}" type="datetimeFigureOut">
              <a:rPr lang="es-MX" smtClean="0"/>
              <a:t>14/06/2026</a:t>
            </a:fld>
            <a:endParaRPr lang="es-MX"/>
          </a:p>
        </p:txBody>
      </p:sp>
      <p:sp>
        <p:nvSpPr>
          <p:cNvPr id="4" name="Marcador de pie de página 3">
            <a:extLst>
              <a:ext uri="{FF2B5EF4-FFF2-40B4-BE49-F238E27FC236}">
                <a16:creationId xmlns:a16="http://schemas.microsoft.com/office/drawing/2014/main" id="{038AACF1-3199-4D56-8BC5-A8AFE3988776}"/>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78904655-D1F2-4EAA-B7C2-60F9B52BA240}"/>
              </a:ext>
            </a:extLst>
          </p:cNvPr>
          <p:cNvSpPr>
            <a:spLocks noGrp="1"/>
          </p:cNvSpPr>
          <p:nvPr>
            <p:ph type="sldNum" sz="quarter" idx="12"/>
          </p:nvPr>
        </p:nvSpPr>
        <p:spPr/>
        <p:txBody>
          <a:bodyPr/>
          <a:lstStyle/>
          <a:p>
            <a:fld id="{04EF272B-8E96-46A0-9E6E-0429FDB5489F}" type="slidenum">
              <a:rPr lang="es-MX" smtClean="0"/>
              <a:t>‹Nº›</a:t>
            </a:fld>
            <a:endParaRPr lang="es-MX"/>
          </a:p>
        </p:txBody>
      </p:sp>
    </p:spTree>
    <p:extLst>
      <p:ext uri="{BB962C8B-B14F-4D97-AF65-F5344CB8AC3E}">
        <p14:creationId xmlns:p14="http://schemas.microsoft.com/office/powerpoint/2010/main" val="2065998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4B9AF8F-CF0C-4B78-BF22-4B135E7C48A2}"/>
              </a:ext>
            </a:extLst>
          </p:cNvPr>
          <p:cNvSpPr>
            <a:spLocks noGrp="1"/>
          </p:cNvSpPr>
          <p:nvPr>
            <p:ph type="dt" sz="half" idx="10"/>
          </p:nvPr>
        </p:nvSpPr>
        <p:spPr/>
        <p:txBody>
          <a:bodyPr/>
          <a:lstStyle/>
          <a:p>
            <a:fld id="{46CE85F9-1A61-426A-B6FC-53DBEBBF1C0A}" type="datetimeFigureOut">
              <a:rPr lang="es-MX" smtClean="0"/>
              <a:t>14/06/2026</a:t>
            </a:fld>
            <a:endParaRPr lang="es-MX"/>
          </a:p>
        </p:txBody>
      </p:sp>
      <p:sp>
        <p:nvSpPr>
          <p:cNvPr id="3" name="Marcador de pie de página 2">
            <a:extLst>
              <a:ext uri="{FF2B5EF4-FFF2-40B4-BE49-F238E27FC236}">
                <a16:creationId xmlns:a16="http://schemas.microsoft.com/office/drawing/2014/main" id="{993ED29A-9551-4554-A566-289EA6EF877E}"/>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45CBB75D-846F-4F58-8281-8FD876EC24FD}"/>
              </a:ext>
            </a:extLst>
          </p:cNvPr>
          <p:cNvSpPr>
            <a:spLocks noGrp="1"/>
          </p:cNvSpPr>
          <p:nvPr>
            <p:ph type="sldNum" sz="quarter" idx="12"/>
          </p:nvPr>
        </p:nvSpPr>
        <p:spPr/>
        <p:txBody>
          <a:bodyPr/>
          <a:lstStyle/>
          <a:p>
            <a:fld id="{04EF272B-8E96-46A0-9E6E-0429FDB5489F}" type="slidenum">
              <a:rPr lang="es-MX" smtClean="0"/>
              <a:t>‹Nº›</a:t>
            </a:fld>
            <a:endParaRPr lang="es-MX"/>
          </a:p>
        </p:txBody>
      </p:sp>
    </p:spTree>
    <p:extLst>
      <p:ext uri="{BB962C8B-B14F-4D97-AF65-F5344CB8AC3E}">
        <p14:creationId xmlns:p14="http://schemas.microsoft.com/office/powerpoint/2010/main" val="3421785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1D3FB7-7612-4C36-972F-71491BF0F19A}"/>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CCFAB85E-4DBB-4623-8EF0-144C036FB9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5E8800DD-E929-4A46-AED7-3882520A3E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27D8EF2D-9197-452B-8EEB-805EFB285B66}"/>
              </a:ext>
            </a:extLst>
          </p:cNvPr>
          <p:cNvSpPr>
            <a:spLocks noGrp="1"/>
          </p:cNvSpPr>
          <p:nvPr>
            <p:ph type="dt" sz="half" idx="10"/>
          </p:nvPr>
        </p:nvSpPr>
        <p:spPr/>
        <p:txBody>
          <a:bodyPr/>
          <a:lstStyle/>
          <a:p>
            <a:fld id="{46CE85F9-1A61-426A-B6FC-53DBEBBF1C0A}" type="datetimeFigureOut">
              <a:rPr lang="es-MX" smtClean="0"/>
              <a:t>14/06/2026</a:t>
            </a:fld>
            <a:endParaRPr lang="es-MX"/>
          </a:p>
        </p:txBody>
      </p:sp>
      <p:sp>
        <p:nvSpPr>
          <p:cNvPr id="6" name="Marcador de pie de página 5">
            <a:extLst>
              <a:ext uri="{FF2B5EF4-FFF2-40B4-BE49-F238E27FC236}">
                <a16:creationId xmlns:a16="http://schemas.microsoft.com/office/drawing/2014/main" id="{74258BDC-08FD-45F5-A1B7-8C4940D2DE8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1C6E5EB-D408-4D54-9797-463D32788535}"/>
              </a:ext>
            </a:extLst>
          </p:cNvPr>
          <p:cNvSpPr>
            <a:spLocks noGrp="1"/>
          </p:cNvSpPr>
          <p:nvPr>
            <p:ph type="sldNum" sz="quarter" idx="12"/>
          </p:nvPr>
        </p:nvSpPr>
        <p:spPr/>
        <p:txBody>
          <a:bodyPr/>
          <a:lstStyle/>
          <a:p>
            <a:fld id="{04EF272B-8E96-46A0-9E6E-0429FDB5489F}" type="slidenum">
              <a:rPr lang="es-MX" smtClean="0"/>
              <a:t>‹Nº›</a:t>
            </a:fld>
            <a:endParaRPr lang="es-MX"/>
          </a:p>
        </p:txBody>
      </p:sp>
    </p:spTree>
    <p:extLst>
      <p:ext uri="{BB962C8B-B14F-4D97-AF65-F5344CB8AC3E}">
        <p14:creationId xmlns:p14="http://schemas.microsoft.com/office/powerpoint/2010/main" val="173822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BC7281-08DA-44D8-8E2E-504CBB2BF400}"/>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A221E5B1-0B5C-46C9-9B18-F7022E015F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9D0F3D4F-402D-44F5-BD3C-6A04D6A76E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D6CF7E4C-6150-4D39-8FC7-3E314219CFB8}"/>
              </a:ext>
            </a:extLst>
          </p:cNvPr>
          <p:cNvSpPr>
            <a:spLocks noGrp="1"/>
          </p:cNvSpPr>
          <p:nvPr>
            <p:ph type="dt" sz="half" idx="10"/>
          </p:nvPr>
        </p:nvSpPr>
        <p:spPr/>
        <p:txBody>
          <a:bodyPr/>
          <a:lstStyle/>
          <a:p>
            <a:fld id="{46CE85F9-1A61-426A-B6FC-53DBEBBF1C0A}" type="datetimeFigureOut">
              <a:rPr lang="es-MX" smtClean="0"/>
              <a:t>14/06/2026</a:t>
            </a:fld>
            <a:endParaRPr lang="es-MX"/>
          </a:p>
        </p:txBody>
      </p:sp>
      <p:sp>
        <p:nvSpPr>
          <p:cNvPr id="6" name="Marcador de pie de página 5">
            <a:extLst>
              <a:ext uri="{FF2B5EF4-FFF2-40B4-BE49-F238E27FC236}">
                <a16:creationId xmlns:a16="http://schemas.microsoft.com/office/drawing/2014/main" id="{F2965C34-C4F2-4AFF-B125-D337F05EE56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D26FDEC-E6CF-4E73-8993-0107E2EA4CE2}"/>
              </a:ext>
            </a:extLst>
          </p:cNvPr>
          <p:cNvSpPr>
            <a:spLocks noGrp="1"/>
          </p:cNvSpPr>
          <p:nvPr>
            <p:ph type="sldNum" sz="quarter" idx="12"/>
          </p:nvPr>
        </p:nvSpPr>
        <p:spPr/>
        <p:txBody>
          <a:bodyPr/>
          <a:lstStyle/>
          <a:p>
            <a:fld id="{04EF272B-8E96-46A0-9E6E-0429FDB5489F}" type="slidenum">
              <a:rPr lang="es-MX" smtClean="0"/>
              <a:t>‹Nº›</a:t>
            </a:fld>
            <a:endParaRPr lang="es-MX"/>
          </a:p>
        </p:txBody>
      </p:sp>
    </p:spTree>
    <p:extLst>
      <p:ext uri="{BB962C8B-B14F-4D97-AF65-F5344CB8AC3E}">
        <p14:creationId xmlns:p14="http://schemas.microsoft.com/office/powerpoint/2010/main" val="3705906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B33F34-6A8A-47F3-97BF-C6DF3CD07E35}"/>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10BEE2D8-248B-4331-8AE3-1D4BDC9A7A34}"/>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D488150F-FBB6-4484-95F7-9AFDE261D3DA}"/>
              </a:ext>
            </a:extLst>
          </p:cNvPr>
          <p:cNvSpPr>
            <a:spLocks noGrp="1"/>
          </p:cNvSpPr>
          <p:nvPr>
            <p:ph type="dt" sz="half" idx="10"/>
          </p:nvPr>
        </p:nvSpPr>
        <p:spPr/>
        <p:txBody>
          <a:bodyPr/>
          <a:lstStyle/>
          <a:p>
            <a:fld id="{46CE85F9-1A61-426A-B6FC-53DBEBBF1C0A}" type="datetimeFigureOut">
              <a:rPr lang="es-MX" smtClean="0"/>
              <a:t>14/06/2026</a:t>
            </a:fld>
            <a:endParaRPr lang="es-MX"/>
          </a:p>
        </p:txBody>
      </p:sp>
      <p:sp>
        <p:nvSpPr>
          <p:cNvPr id="5" name="Marcador de pie de página 4">
            <a:extLst>
              <a:ext uri="{FF2B5EF4-FFF2-40B4-BE49-F238E27FC236}">
                <a16:creationId xmlns:a16="http://schemas.microsoft.com/office/drawing/2014/main" id="{8493E57E-5382-4524-8CC4-2C1BAA40CA3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8D459CE-1D87-4277-BACF-0919EFACB274}"/>
              </a:ext>
            </a:extLst>
          </p:cNvPr>
          <p:cNvSpPr>
            <a:spLocks noGrp="1"/>
          </p:cNvSpPr>
          <p:nvPr>
            <p:ph type="sldNum" sz="quarter" idx="12"/>
          </p:nvPr>
        </p:nvSpPr>
        <p:spPr/>
        <p:txBody>
          <a:bodyPr/>
          <a:lstStyle/>
          <a:p>
            <a:fld id="{04EF272B-8E96-46A0-9E6E-0429FDB5489F}" type="slidenum">
              <a:rPr lang="es-MX" smtClean="0"/>
              <a:t>‹Nº›</a:t>
            </a:fld>
            <a:endParaRPr lang="es-MX"/>
          </a:p>
        </p:txBody>
      </p:sp>
    </p:spTree>
    <p:extLst>
      <p:ext uri="{BB962C8B-B14F-4D97-AF65-F5344CB8AC3E}">
        <p14:creationId xmlns:p14="http://schemas.microsoft.com/office/powerpoint/2010/main" val="121740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0F4FF46-4434-42C7-9363-AB4F1520A8E7}"/>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A789BA74-0053-4D43-B6D9-38B342B395E9}"/>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7FFC981E-0E6A-4D6B-B4AF-5F83CE6E9C1F}"/>
              </a:ext>
            </a:extLst>
          </p:cNvPr>
          <p:cNvSpPr>
            <a:spLocks noGrp="1"/>
          </p:cNvSpPr>
          <p:nvPr>
            <p:ph type="dt" sz="half" idx="10"/>
          </p:nvPr>
        </p:nvSpPr>
        <p:spPr/>
        <p:txBody>
          <a:bodyPr/>
          <a:lstStyle/>
          <a:p>
            <a:fld id="{46CE85F9-1A61-426A-B6FC-53DBEBBF1C0A}" type="datetimeFigureOut">
              <a:rPr lang="es-MX" smtClean="0"/>
              <a:t>14/06/2026</a:t>
            </a:fld>
            <a:endParaRPr lang="es-MX"/>
          </a:p>
        </p:txBody>
      </p:sp>
      <p:sp>
        <p:nvSpPr>
          <p:cNvPr id="5" name="Marcador de pie de página 4">
            <a:extLst>
              <a:ext uri="{FF2B5EF4-FFF2-40B4-BE49-F238E27FC236}">
                <a16:creationId xmlns:a16="http://schemas.microsoft.com/office/drawing/2014/main" id="{2203AFD7-611E-4981-9CB0-326B649BD5C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94C54C4-0AAB-4941-BB14-D0CF063A5C72}"/>
              </a:ext>
            </a:extLst>
          </p:cNvPr>
          <p:cNvSpPr>
            <a:spLocks noGrp="1"/>
          </p:cNvSpPr>
          <p:nvPr>
            <p:ph type="sldNum" sz="quarter" idx="12"/>
          </p:nvPr>
        </p:nvSpPr>
        <p:spPr/>
        <p:txBody>
          <a:bodyPr/>
          <a:lstStyle/>
          <a:p>
            <a:fld id="{04EF272B-8E96-46A0-9E6E-0429FDB5489F}" type="slidenum">
              <a:rPr lang="es-MX" smtClean="0"/>
              <a:t>‹Nº›</a:t>
            </a:fld>
            <a:endParaRPr lang="es-MX"/>
          </a:p>
        </p:txBody>
      </p:sp>
    </p:spTree>
    <p:extLst>
      <p:ext uri="{BB962C8B-B14F-4D97-AF65-F5344CB8AC3E}">
        <p14:creationId xmlns:p14="http://schemas.microsoft.com/office/powerpoint/2010/main" val="4007235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2000"/>
            <a:lum/>
          </a:blip>
          <a:srcRect/>
          <a:stretch>
            <a:fillRect t="-3000" b="-3000"/>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1BD8C84-BE8A-465E-AA4A-A780BA43A4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F24E6078-6304-4B13-86BD-BDC739D750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99F5EE37-2996-4834-BE63-972BB5B415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CE85F9-1A61-426A-B6FC-53DBEBBF1C0A}" type="datetimeFigureOut">
              <a:rPr lang="es-MX" smtClean="0"/>
              <a:t>14/06/2026</a:t>
            </a:fld>
            <a:endParaRPr lang="es-MX"/>
          </a:p>
        </p:txBody>
      </p:sp>
      <p:sp>
        <p:nvSpPr>
          <p:cNvPr id="5" name="Marcador de pie de página 4">
            <a:extLst>
              <a:ext uri="{FF2B5EF4-FFF2-40B4-BE49-F238E27FC236}">
                <a16:creationId xmlns:a16="http://schemas.microsoft.com/office/drawing/2014/main" id="{A2113207-34F8-4481-A275-20A3CA66C2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1D92DA39-80EA-465E-BDB4-7E7817F22B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EF272B-8E96-46A0-9E6E-0429FDB5489F}" type="slidenum">
              <a:rPr lang="es-MX" smtClean="0"/>
              <a:t>‹Nº›</a:t>
            </a:fld>
            <a:endParaRPr lang="es-MX"/>
          </a:p>
        </p:txBody>
      </p:sp>
    </p:spTree>
    <p:extLst>
      <p:ext uri="{BB962C8B-B14F-4D97-AF65-F5344CB8AC3E}">
        <p14:creationId xmlns:p14="http://schemas.microsoft.com/office/powerpoint/2010/main" val="1378868254"/>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4.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B01D51D3-E126-4587-950C-8BE4B32AEB11}"/>
              </a:ext>
            </a:extLst>
          </p:cNvPr>
          <p:cNvSpPr>
            <a:spLocks noChangeArrowheads="1"/>
          </p:cNvSpPr>
          <p:nvPr/>
        </p:nvSpPr>
        <p:spPr bwMode="auto">
          <a:xfrm>
            <a:off x="2763074" y="1145759"/>
            <a:ext cx="6665843" cy="5442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50000"/>
              </a:lnSpc>
              <a:spcBef>
                <a:spcPct val="0"/>
              </a:spcBef>
              <a:spcAft>
                <a:spcPct val="0"/>
              </a:spcAft>
              <a:buClrTx/>
              <a:buSzTx/>
              <a:buFontTx/>
              <a:buNone/>
              <a:tabLst/>
            </a:pPr>
            <a:r>
              <a:rPr kumimoji="0" lang="es-MX"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Instituto Tecnológico de Frontera Comalapa</a:t>
            </a:r>
            <a:endParaRPr kumimoji="0" lang="es-MX" altLang="es-MX" b="0" i="0" u="none" strike="noStrike" cap="none" normalizeH="0" baseline="0" dirty="0">
              <a:ln>
                <a:noFill/>
              </a:ln>
              <a:solidFill>
                <a:schemeClr val="tx1"/>
              </a:solidFill>
              <a:effectLst/>
            </a:endParaRPr>
          </a:p>
          <a:p>
            <a:pPr marL="0" marR="0" lvl="0" indent="0" algn="ctr" defTabSz="914400" rtl="0" eaLnBrk="0" fontAlgn="base" latinLnBrk="0" hangingPunct="0">
              <a:lnSpc>
                <a:spcPct val="150000"/>
              </a:lnSpc>
              <a:spcBef>
                <a:spcPct val="0"/>
              </a:spcBef>
              <a:spcAft>
                <a:spcPct val="0"/>
              </a:spcAft>
              <a:buClrTx/>
              <a:buSzTx/>
              <a:buFontTx/>
              <a:buNone/>
              <a:tabLst/>
            </a:pPr>
            <a:r>
              <a:rPr kumimoji="0" lang="es-MX"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Materia:</a:t>
            </a:r>
            <a:endParaRPr kumimoji="0" lang="es-MX" altLang="es-MX" b="0" i="0" u="none" strike="noStrike" cap="none" normalizeH="0" baseline="0" dirty="0">
              <a:ln>
                <a:noFill/>
              </a:ln>
              <a:solidFill>
                <a:schemeClr val="tx1"/>
              </a:solidFill>
              <a:effectLst/>
            </a:endParaRPr>
          </a:p>
          <a:p>
            <a:pPr marL="0" marR="0" lvl="0" indent="0" algn="ctr" defTabSz="914400" rtl="0" eaLnBrk="0" fontAlgn="base" latinLnBrk="0" hangingPunct="0">
              <a:lnSpc>
                <a:spcPct val="150000"/>
              </a:lnSpc>
              <a:spcBef>
                <a:spcPct val="0"/>
              </a:spcBef>
              <a:spcAft>
                <a:spcPct val="0"/>
              </a:spcAft>
              <a:buClrTx/>
              <a:buSzTx/>
              <a:buFontTx/>
              <a:buNone/>
              <a:tabLst/>
            </a:pPr>
            <a:r>
              <a:rPr lang="es-MX" altLang="es-MX" dirty="0">
                <a:latin typeface="Arial" panose="020B0604020202020204" pitchFamily="34" charset="0"/>
                <a:cs typeface="Arial" panose="020B0604020202020204" pitchFamily="34" charset="0"/>
              </a:rPr>
              <a:t>Programación Web</a:t>
            </a:r>
          </a:p>
          <a:p>
            <a:pPr marL="0" marR="0" lvl="0" indent="0" algn="ctr" defTabSz="914400" rtl="0" eaLnBrk="0" fontAlgn="base" latinLnBrk="0" hangingPunct="0">
              <a:lnSpc>
                <a:spcPct val="150000"/>
              </a:lnSpc>
              <a:spcBef>
                <a:spcPct val="0"/>
              </a:spcBef>
              <a:spcAft>
                <a:spcPct val="0"/>
              </a:spcAft>
              <a:buClrTx/>
              <a:buSzTx/>
              <a:buFontTx/>
              <a:buNone/>
              <a:tabLst/>
            </a:pPr>
            <a:r>
              <a:rPr kumimoji="0" lang="es-MX"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Octavo Semestre</a:t>
            </a:r>
            <a:endParaRPr kumimoji="0" lang="es-MX" altLang="es-MX"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50000"/>
              </a:lnSpc>
              <a:spcBef>
                <a:spcPct val="0"/>
              </a:spcBef>
              <a:spcAft>
                <a:spcPct val="0"/>
              </a:spcAft>
              <a:buClrTx/>
              <a:buSzTx/>
              <a:buFontTx/>
              <a:buNone/>
              <a:tabLst/>
            </a:pPr>
            <a:r>
              <a:rPr kumimoji="0" lang="es-MX"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Carrera:</a:t>
            </a:r>
            <a:endParaRPr kumimoji="0" lang="es-MX" altLang="es-MX" b="0" i="0" u="none" strike="noStrike" cap="none" normalizeH="0" baseline="0" dirty="0">
              <a:ln>
                <a:noFill/>
              </a:ln>
              <a:solidFill>
                <a:schemeClr val="tx1"/>
              </a:solidFill>
              <a:effectLst/>
            </a:endParaRPr>
          </a:p>
          <a:p>
            <a:pPr marL="0" marR="0" lvl="0" indent="0" algn="ctr" defTabSz="914400" rtl="0" eaLnBrk="0" fontAlgn="base" latinLnBrk="0" hangingPunct="0">
              <a:lnSpc>
                <a:spcPct val="150000"/>
              </a:lnSpc>
              <a:spcBef>
                <a:spcPct val="0"/>
              </a:spcBef>
              <a:spcAft>
                <a:spcPct val="0"/>
              </a:spcAft>
              <a:buClrTx/>
              <a:buSzTx/>
              <a:buFontTx/>
              <a:buNone/>
              <a:tabLst/>
            </a:pPr>
            <a:r>
              <a:rPr kumimoji="0" lang="es-MX" altLang="es-MX"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Ingeniería en Sistemas Computacionales (Modalidad Mixta).</a:t>
            </a:r>
            <a:endParaRPr kumimoji="0" lang="es-MX" altLang="es-MX" b="0" i="0" u="none" strike="noStrike" cap="none" normalizeH="0" baseline="0" dirty="0">
              <a:ln>
                <a:noFill/>
              </a:ln>
              <a:solidFill>
                <a:schemeClr val="tx1"/>
              </a:solidFill>
              <a:effectLst/>
            </a:endParaRPr>
          </a:p>
          <a:p>
            <a:pPr marL="0" marR="0" lvl="0" indent="0" algn="ctr" defTabSz="914400" rtl="0" eaLnBrk="0" fontAlgn="base" latinLnBrk="0" hangingPunct="0">
              <a:lnSpc>
                <a:spcPct val="150000"/>
              </a:lnSpc>
              <a:spcBef>
                <a:spcPct val="0"/>
              </a:spcBef>
              <a:spcAft>
                <a:spcPct val="0"/>
              </a:spcAft>
              <a:buClrTx/>
              <a:buSzTx/>
              <a:buFontTx/>
              <a:buNone/>
              <a:tabLst/>
            </a:pPr>
            <a:r>
              <a:rPr kumimoji="0" lang="es-MX"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Nombres de los Integrantes:</a:t>
            </a:r>
            <a:endParaRPr kumimoji="0" lang="es-MX" altLang="es-MX" b="0" i="0" u="none" strike="noStrike" cap="none" normalizeH="0" baseline="0" dirty="0">
              <a:ln>
                <a:noFill/>
              </a:ln>
              <a:solidFill>
                <a:schemeClr val="tx1"/>
              </a:solidFill>
              <a:effectLst/>
            </a:endParaRPr>
          </a:p>
          <a:p>
            <a:pPr marL="0" marR="0" lvl="0" indent="0" algn="ctr" defTabSz="914400" rtl="0" eaLnBrk="0" fontAlgn="base" latinLnBrk="0" hangingPunct="0">
              <a:lnSpc>
                <a:spcPct val="150000"/>
              </a:lnSpc>
              <a:spcBef>
                <a:spcPct val="0"/>
              </a:spcBef>
              <a:spcAft>
                <a:spcPct val="0"/>
              </a:spcAft>
              <a:buClrTx/>
              <a:buSzTx/>
              <a:buFontTx/>
              <a:buNone/>
              <a:tabLst/>
            </a:pPr>
            <a:r>
              <a:rPr lang="es-MX" altLang="es-MX" dirty="0">
                <a:latin typeface="Arial" panose="020B0604020202020204" pitchFamily="34" charset="0"/>
                <a:ea typeface="Calibri" panose="020F0502020204030204" pitchFamily="34" charset="0"/>
                <a:cs typeface="Arial" panose="020B0604020202020204" pitchFamily="34" charset="0"/>
              </a:rPr>
              <a:t>Aldrich Humberto Irena Ramírez  221260071</a:t>
            </a:r>
            <a:endParaRPr kumimoji="0" lang="es-MX" altLang="es-MX" b="0" i="0" u="none" strike="noStrike" cap="none" normalizeH="0" baseline="0" dirty="0">
              <a:ln>
                <a:noFill/>
              </a:ln>
              <a:solidFill>
                <a:schemeClr val="tx1"/>
              </a:solidFill>
              <a:effectLst/>
            </a:endParaRPr>
          </a:p>
          <a:p>
            <a:pPr marL="0" marR="0" lvl="0" indent="0" algn="ctr" defTabSz="914400" rtl="0" eaLnBrk="0" fontAlgn="base" latinLnBrk="0" hangingPunct="0">
              <a:lnSpc>
                <a:spcPct val="150000"/>
              </a:lnSpc>
              <a:spcBef>
                <a:spcPct val="0"/>
              </a:spcBef>
              <a:spcAft>
                <a:spcPct val="0"/>
              </a:spcAft>
              <a:buClrTx/>
              <a:buSzTx/>
              <a:buFontTx/>
              <a:buNone/>
              <a:tabLst/>
            </a:pPr>
            <a:r>
              <a:rPr kumimoji="0" lang="es-MX"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Nombre del docente:</a:t>
            </a:r>
            <a:endParaRPr kumimoji="0" lang="es-MX" altLang="es-MX" b="0" i="0" u="none" strike="noStrike" cap="none" normalizeH="0" baseline="0" dirty="0">
              <a:ln>
                <a:noFill/>
              </a:ln>
              <a:solidFill>
                <a:schemeClr val="tx1"/>
              </a:solidFill>
              <a:effectLst/>
            </a:endParaRPr>
          </a:p>
          <a:p>
            <a:pPr marL="0" marR="0" lvl="0" indent="0" algn="ctr" defTabSz="914400" rtl="0" eaLnBrk="0" fontAlgn="base" latinLnBrk="0" hangingPunct="0">
              <a:lnSpc>
                <a:spcPct val="150000"/>
              </a:lnSpc>
              <a:spcBef>
                <a:spcPct val="0"/>
              </a:spcBef>
              <a:spcAft>
                <a:spcPct val="0"/>
              </a:spcAft>
              <a:buClrTx/>
              <a:buSzTx/>
              <a:buFontTx/>
              <a:buNone/>
              <a:tabLst/>
            </a:pPr>
            <a:r>
              <a:rPr lang="es-MX" altLang="es-MX" dirty="0">
                <a:latin typeface="Arial" panose="020B0604020202020204" pitchFamily="34" charset="0"/>
                <a:cs typeface="Arial" panose="020B0604020202020204" pitchFamily="34" charset="0"/>
              </a:rPr>
              <a:t>Ing. Francisco Javier Mingo </a:t>
            </a:r>
            <a:r>
              <a:rPr lang="es-MX" altLang="es-MX" dirty="0" err="1">
                <a:latin typeface="Arial" panose="020B0604020202020204" pitchFamily="34" charset="0"/>
                <a:cs typeface="Arial" panose="020B0604020202020204" pitchFamily="34" charset="0"/>
              </a:rPr>
              <a:t>Velazquez</a:t>
            </a:r>
            <a:endParaRPr kumimoji="0" lang="es-MX" altLang="es-MX" b="0" i="0" u="none" strike="noStrike" cap="none" normalizeH="0" baseline="0" dirty="0">
              <a:ln>
                <a:noFill/>
              </a:ln>
              <a:solidFill>
                <a:schemeClr val="tx1"/>
              </a:solidFill>
              <a:effectLst/>
            </a:endParaRPr>
          </a:p>
          <a:p>
            <a:pPr marL="0" marR="0" lvl="0" indent="0" algn="ctr" defTabSz="914400" rtl="0" eaLnBrk="0" fontAlgn="base" latinLnBrk="0" hangingPunct="0">
              <a:lnSpc>
                <a:spcPct val="150000"/>
              </a:lnSpc>
              <a:spcBef>
                <a:spcPct val="0"/>
              </a:spcBef>
              <a:spcAft>
                <a:spcPct val="0"/>
              </a:spcAft>
              <a:buClrTx/>
              <a:buSzTx/>
              <a:buFontTx/>
              <a:buNone/>
              <a:tabLst/>
            </a:pPr>
            <a:r>
              <a:rPr kumimoji="0" lang="es-MX"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Nombre del trabajo:</a:t>
            </a:r>
            <a:endParaRPr kumimoji="0" lang="es-MX" altLang="es-MX" b="0" i="0" u="none" strike="noStrike" cap="none" normalizeH="0" baseline="0" dirty="0">
              <a:ln>
                <a:noFill/>
              </a:ln>
              <a:solidFill>
                <a:schemeClr val="tx1"/>
              </a:solidFill>
              <a:effectLst/>
            </a:endParaRPr>
          </a:p>
          <a:p>
            <a:pPr marL="0" marR="0" lvl="0" indent="0" algn="ctr" defTabSz="914400" rtl="0" eaLnBrk="0" fontAlgn="base" latinLnBrk="0" hangingPunct="0">
              <a:lnSpc>
                <a:spcPct val="150000"/>
              </a:lnSpc>
              <a:spcBef>
                <a:spcPct val="0"/>
              </a:spcBef>
              <a:spcAft>
                <a:spcPct val="0"/>
              </a:spcAft>
              <a:buClrTx/>
              <a:buSzTx/>
              <a:buFontTx/>
              <a:buNone/>
              <a:tabLst/>
            </a:pPr>
            <a:r>
              <a:rPr lang="es-MX" altLang="es-MX" dirty="0">
                <a:latin typeface="Arial" panose="020B0604020202020204" pitchFamily="34" charset="0"/>
                <a:cs typeface="Arial" panose="020B0604020202020204" pitchFamily="34" charset="0"/>
              </a:rPr>
              <a:t>Actividad 4.3 Ejercicios.</a:t>
            </a:r>
            <a:endParaRPr kumimoji="0" lang="es-MX" altLang="es-MX" b="0" i="0" u="none" strike="noStrike" cap="none" normalizeH="0" baseline="0" dirty="0">
              <a:ln>
                <a:noFill/>
              </a:ln>
              <a:solidFill>
                <a:schemeClr val="tx1"/>
              </a:solidFill>
              <a:effectLst/>
            </a:endParaRPr>
          </a:p>
          <a:p>
            <a:pPr marL="0" marR="0" lvl="0" indent="0" algn="ctr" defTabSz="914400" rtl="0" eaLnBrk="0" fontAlgn="base" latinLnBrk="0" hangingPunct="0">
              <a:lnSpc>
                <a:spcPct val="150000"/>
              </a:lnSpc>
              <a:spcBef>
                <a:spcPct val="0"/>
              </a:spcBef>
              <a:spcAft>
                <a:spcPct val="0"/>
              </a:spcAft>
              <a:buClrTx/>
              <a:buSzTx/>
              <a:buFontTx/>
              <a:buNone/>
              <a:tabLst/>
            </a:pPr>
            <a:r>
              <a:rPr kumimoji="0" lang="es-MX" altLang="es-MX"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Frontera Comalapa, Chiapas a </a:t>
            </a:r>
            <a:r>
              <a:rPr lang="es-MX" altLang="es-MX" dirty="0">
                <a:latin typeface="Arial" panose="020B0604020202020204" pitchFamily="34" charset="0"/>
                <a:ea typeface="Calibri" panose="020F0502020204030204" pitchFamily="34" charset="0"/>
                <a:cs typeface="Arial" panose="020B0604020202020204" pitchFamily="34" charset="0"/>
              </a:rPr>
              <a:t>09</a:t>
            </a:r>
            <a:r>
              <a:rPr kumimoji="0" lang="es-MX" altLang="es-MX"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de junio del 2026</a:t>
            </a:r>
            <a:endParaRPr kumimoji="0" lang="es-MX" altLang="es-MX" b="0" i="0" u="none" strike="noStrike" cap="none" normalizeH="0" baseline="0" dirty="0">
              <a:ln>
                <a:noFill/>
              </a:ln>
              <a:solidFill>
                <a:schemeClr val="tx1"/>
              </a:solidFill>
              <a:effectLst/>
              <a:latin typeface="Arial" panose="020B0604020202020204" pitchFamily="34" charset="0"/>
            </a:endParaRPr>
          </a:p>
        </p:txBody>
      </p:sp>
      <p:pic>
        <p:nvPicPr>
          <p:cNvPr id="6" name="Imagen 5">
            <a:extLst>
              <a:ext uri="{FF2B5EF4-FFF2-40B4-BE49-F238E27FC236}">
                <a16:creationId xmlns:a16="http://schemas.microsoft.com/office/drawing/2014/main" id="{F2EA8574-C0D5-4115-ADA5-66179F8386E1}"/>
              </a:ext>
            </a:extLst>
          </p:cNvPr>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22525" y="167750"/>
            <a:ext cx="2552700" cy="833120"/>
          </a:xfrm>
          <a:prstGeom prst="rect">
            <a:avLst/>
          </a:prstGeom>
          <a:noFill/>
          <a:ln>
            <a:noFill/>
          </a:ln>
        </p:spPr>
      </p:pic>
      <p:pic>
        <p:nvPicPr>
          <p:cNvPr id="7" name="Imagen 6">
            <a:extLst>
              <a:ext uri="{FF2B5EF4-FFF2-40B4-BE49-F238E27FC236}">
                <a16:creationId xmlns:a16="http://schemas.microsoft.com/office/drawing/2014/main" id="{C3CA822B-3EA0-4420-BE0D-93658F8AB1F6}"/>
              </a:ext>
            </a:extLst>
          </p:cNvPr>
          <p:cNvPicPr/>
          <p:nvPr/>
        </p:nvPicPr>
        <p:blipFill rotWithShape="1">
          <a:blip r:embed="rId3">
            <a:extLst>
              <a:ext uri="{BEBA8EAE-BF5A-486C-A8C5-ECC9F3942E4B}">
                <a14:imgProps xmlns:a14="http://schemas.microsoft.com/office/drawing/2010/main">
                  <a14:imgLayer r:embed="rId4">
                    <a14:imgEffect>
                      <a14:colorTemperature colorTemp="4700"/>
                    </a14:imgEffect>
                  </a14:imgLayer>
                </a14:imgProps>
              </a:ext>
              <a:ext uri="{28A0092B-C50C-407E-A947-70E740481C1C}">
                <a14:useLocalDpi xmlns:a14="http://schemas.microsoft.com/office/drawing/2010/main" val="0"/>
              </a:ext>
            </a:extLst>
          </a:blip>
          <a:srcRect l="3305" t="7352" r="3338" b="7775"/>
          <a:stretch/>
        </p:blipFill>
        <p:spPr bwMode="auto">
          <a:xfrm>
            <a:off x="5127721" y="139284"/>
            <a:ext cx="2239645" cy="1006475"/>
          </a:xfrm>
          <a:prstGeom prst="rect">
            <a:avLst/>
          </a:prstGeom>
          <a:noFill/>
          <a:ln>
            <a:noFill/>
          </a:ln>
          <a:extLst>
            <a:ext uri="{53640926-AAD7-44D8-BBD7-CCE9431645EC}">
              <a14:shadowObscured xmlns:a14="http://schemas.microsoft.com/office/drawing/2010/main"/>
            </a:ext>
          </a:extLst>
        </p:spPr>
      </p:pic>
      <p:pic>
        <p:nvPicPr>
          <p:cNvPr id="8" name="Imagen 7" descr="TecNM | Tecnológico Nacional de México">
            <a:extLst>
              <a:ext uri="{FF2B5EF4-FFF2-40B4-BE49-F238E27FC236}">
                <a16:creationId xmlns:a16="http://schemas.microsoft.com/office/drawing/2014/main" id="{7E68F6FA-EF3D-4263-A1D7-F107DDCB04B6}"/>
              </a:ext>
            </a:extLst>
          </p:cNvPr>
          <p:cNvPicPr/>
          <p:nvPr/>
        </p:nvPicPr>
        <p:blipFill rotWithShape="1">
          <a:blip r:embed="rId5" cstate="print">
            <a:extLst>
              <a:ext uri="{28A0092B-C50C-407E-A947-70E740481C1C}">
                <a14:useLocalDpi xmlns:a14="http://schemas.microsoft.com/office/drawing/2010/main" val="0"/>
              </a:ext>
            </a:extLst>
          </a:blip>
          <a:srcRect t="4884" b="9388"/>
          <a:stretch/>
        </p:blipFill>
        <p:spPr bwMode="auto">
          <a:xfrm>
            <a:off x="9166367" y="33020"/>
            <a:ext cx="1809115" cy="1127760"/>
          </a:xfrm>
          <a:prstGeom prst="rect">
            <a:avLst/>
          </a:prstGeom>
          <a:noFill/>
          <a:ln>
            <a:noFill/>
          </a:ln>
          <a:extLst>
            <a:ext uri="{53640926-AAD7-44D8-BBD7-CCE9431645EC}">
              <a14:shadowObscured xmlns:a14="http://schemas.microsoft.com/office/drawing/2010/main"/>
            </a:ext>
          </a:extLst>
        </p:spPr>
      </p:pic>
      <p:cxnSp>
        <p:nvCxnSpPr>
          <p:cNvPr id="9" name="Conector recto 8">
            <a:extLst>
              <a:ext uri="{FF2B5EF4-FFF2-40B4-BE49-F238E27FC236}">
                <a16:creationId xmlns:a16="http://schemas.microsoft.com/office/drawing/2014/main" id="{C8FC135E-DAC0-4395-9A10-E40FF1E51DA9}"/>
              </a:ext>
            </a:extLst>
          </p:cNvPr>
          <p:cNvCxnSpPr>
            <a:cxnSpLocks/>
          </p:cNvCxnSpPr>
          <p:nvPr/>
        </p:nvCxnSpPr>
        <p:spPr>
          <a:xfrm>
            <a:off x="5127721" y="149761"/>
            <a:ext cx="0" cy="985520"/>
          </a:xfrm>
          <a:prstGeom prst="line">
            <a:avLst/>
          </a:prstGeom>
          <a:effectLst>
            <a:outerShdw blurRad="50800" dist="38100" dir="10800000" algn="r" rotWithShape="0">
              <a:prstClr val="black">
                <a:alpha val="40000"/>
              </a:prstClr>
            </a:outerShdw>
          </a:effectLst>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99652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1EF9F5-AD65-40E6-A7EA-0157D52FC819}"/>
              </a:ext>
            </a:extLst>
          </p:cNvPr>
          <p:cNvSpPr>
            <a:spLocks noGrp="1"/>
          </p:cNvSpPr>
          <p:nvPr>
            <p:ph type="title"/>
          </p:nvPr>
        </p:nvSpPr>
        <p:spPr>
          <a:xfrm>
            <a:off x="3322503" y="212431"/>
            <a:ext cx="5546986" cy="1448685"/>
          </a:xfrm>
        </p:spPr>
        <p:txBody>
          <a:bodyPr>
            <a:normAutofit/>
          </a:bodyPr>
          <a:lstStyle/>
          <a:p>
            <a:pPr algn="ctr"/>
            <a:r>
              <a:rPr lang="es-MX" sz="6000" dirty="0">
                <a:solidFill>
                  <a:srgbClr val="002060"/>
                </a:solidFill>
                <a:latin typeface="Algerian" panose="04020705040A02060702" pitchFamily="82" charset="0"/>
              </a:rPr>
              <a:t>Introducción</a:t>
            </a:r>
          </a:p>
        </p:txBody>
      </p:sp>
      <p:sp>
        <p:nvSpPr>
          <p:cNvPr id="3" name="CuadroTexto 2">
            <a:extLst>
              <a:ext uri="{FF2B5EF4-FFF2-40B4-BE49-F238E27FC236}">
                <a16:creationId xmlns:a16="http://schemas.microsoft.com/office/drawing/2014/main" id="{13931EC5-2480-411C-BC9A-2DEEDAB066E7}"/>
              </a:ext>
            </a:extLst>
          </p:cNvPr>
          <p:cNvSpPr txBox="1"/>
          <p:nvPr/>
        </p:nvSpPr>
        <p:spPr>
          <a:xfrm>
            <a:off x="516348" y="1418623"/>
            <a:ext cx="11159296" cy="2632003"/>
          </a:xfrm>
          <a:prstGeom prst="rect">
            <a:avLst/>
          </a:prstGeom>
          <a:noFill/>
        </p:spPr>
        <p:txBody>
          <a:bodyPr wrap="square" rtlCol="0">
            <a:spAutoFit/>
          </a:bodyPr>
          <a:lstStyle/>
          <a:p>
            <a:pPr algn="just">
              <a:lnSpc>
                <a:spcPct val="150000"/>
              </a:lnSpc>
            </a:pPr>
            <a:r>
              <a:rPr lang="es-ES" sz="1600" dirty="0">
                <a:latin typeface="Arial" panose="020B0604020202020204" pitchFamily="34" charset="0"/>
                <a:cs typeface="Arial" panose="020B0604020202020204" pitchFamily="34" charset="0"/>
              </a:rPr>
              <a:t>En esta parte del informe voy a mostrar los resultados reales de lo que ya quedó funcionando en la plataforma GYMPRO durante este cuarto avance, la culminación de esta etapa representa un hito crítico en el desarrollo de </a:t>
            </a:r>
            <a:r>
              <a:rPr lang="es-ES" sz="1600" dirty="0" err="1">
                <a:latin typeface="Arial" panose="020B0604020202020204" pitchFamily="34" charset="0"/>
                <a:cs typeface="Arial" panose="020B0604020202020204" pitchFamily="34" charset="0"/>
              </a:rPr>
              <a:t>GymPro</a:t>
            </a:r>
            <a:r>
              <a:rPr lang="es-ES" sz="1600" dirty="0">
                <a:latin typeface="Arial" panose="020B0604020202020204" pitchFamily="34" charset="0"/>
                <a:cs typeface="Arial" panose="020B0604020202020204" pitchFamily="34" charset="0"/>
              </a:rPr>
              <a:t>. Se logró establecer un canal de comunicación robusto y asíncrono con la base de datos, garantizando que las operaciones de inserción y consulta se ejecuten en milisegundos. La reestructuración de la interfaz del administrador en pestañas dinámicas y la protección de los documentos descargables en la zona pública demuestran un software alineado a reglas de negocio del mundo real, donde el contenido de valor queda resguardado exclusivamente para usuarios con pagos vigentes.</a:t>
            </a:r>
          </a:p>
        </p:txBody>
      </p:sp>
    </p:spTree>
    <p:extLst>
      <p:ext uri="{BB962C8B-B14F-4D97-AF65-F5344CB8AC3E}">
        <p14:creationId xmlns:p14="http://schemas.microsoft.com/office/powerpoint/2010/main" val="1225271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1EF9F5-AD65-40E6-A7EA-0157D52FC819}"/>
              </a:ext>
            </a:extLst>
          </p:cNvPr>
          <p:cNvSpPr>
            <a:spLocks noGrp="1"/>
          </p:cNvSpPr>
          <p:nvPr>
            <p:ph type="title"/>
          </p:nvPr>
        </p:nvSpPr>
        <p:spPr>
          <a:xfrm>
            <a:off x="3322503" y="212431"/>
            <a:ext cx="5546986" cy="1448685"/>
          </a:xfrm>
        </p:spPr>
        <p:txBody>
          <a:bodyPr>
            <a:normAutofit/>
          </a:bodyPr>
          <a:lstStyle/>
          <a:p>
            <a:pPr algn="ctr"/>
            <a:r>
              <a:rPr lang="es-MX" sz="6000" dirty="0">
                <a:solidFill>
                  <a:srgbClr val="002060"/>
                </a:solidFill>
                <a:latin typeface="Algerian" panose="04020705040A02060702" pitchFamily="82" charset="0"/>
              </a:rPr>
              <a:t>Justificación</a:t>
            </a:r>
          </a:p>
        </p:txBody>
      </p:sp>
      <p:sp>
        <p:nvSpPr>
          <p:cNvPr id="3" name="CuadroTexto 2">
            <a:extLst>
              <a:ext uri="{FF2B5EF4-FFF2-40B4-BE49-F238E27FC236}">
                <a16:creationId xmlns:a16="http://schemas.microsoft.com/office/drawing/2014/main" id="{13931EC5-2480-411C-BC9A-2DEEDAB066E7}"/>
              </a:ext>
            </a:extLst>
          </p:cNvPr>
          <p:cNvSpPr txBox="1"/>
          <p:nvPr/>
        </p:nvSpPr>
        <p:spPr>
          <a:xfrm>
            <a:off x="516348" y="1418623"/>
            <a:ext cx="11159296" cy="2632003"/>
          </a:xfrm>
          <a:prstGeom prst="rect">
            <a:avLst/>
          </a:prstGeom>
          <a:noFill/>
        </p:spPr>
        <p:txBody>
          <a:bodyPr wrap="square" rtlCol="0">
            <a:spAutoFit/>
          </a:bodyPr>
          <a:lstStyle/>
          <a:p>
            <a:pPr algn="just">
              <a:lnSpc>
                <a:spcPct val="150000"/>
              </a:lnSpc>
            </a:pPr>
            <a:r>
              <a:rPr lang="es-ES" sz="1600" dirty="0">
                <a:latin typeface="Arial" panose="020B0604020202020204" pitchFamily="34" charset="0"/>
                <a:cs typeface="Arial" panose="020B0604020202020204" pitchFamily="34" charset="0"/>
              </a:rPr>
              <a:t>El principal desafío técnico resuelto en este periodo fue el desacoplamiento de la lógica de negocio y la seguridad de los datos. Anteriormente, las peticiones directas al servidor de bases de datos presentaban restricciones estrictas debido a las políticas de seguridad a nivel de fila (RLS) y colisiones en la codificación de archivos adjuntos. El avance actual documenta la implementación de un servicio de comunicación unificado (</a:t>
            </a:r>
            <a:r>
              <a:rPr lang="es-ES" sz="1600" dirty="0" err="1">
                <a:latin typeface="Arial" panose="020B0604020202020204" pitchFamily="34" charset="0"/>
                <a:cs typeface="Arial" panose="020B0604020202020204" pitchFamily="34" charset="0"/>
              </a:rPr>
              <a:t>AuthService</a:t>
            </a:r>
            <a:r>
              <a:rPr lang="es-ES" sz="1600" dirty="0">
                <a:latin typeface="Arial" panose="020B0604020202020204" pitchFamily="34" charset="0"/>
                <a:cs typeface="Arial" panose="020B0604020202020204" pitchFamily="34" charset="0"/>
              </a:rPr>
              <a:t>), el desbloqueo de directivas de almacenamiento mediante scripts SQL personalizados, y el aseguramiento del flujo CRUD (Crear, Leer, Actualizar, Eliminar) para dar soporte al control de membresías, perfiles de usuarios y asignación de planes de entrenamiento diarios de lunes a viernes..</a:t>
            </a:r>
            <a:endParaRPr lang="es-MX"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60257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3425493-98DA-4BD4-9BA3-3892663E3D29}"/>
              </a:ext>
            </a:extLst>
          </p:cNvPr>
          <p:cNvSpPr txBox="1"/>
          <p:nvPr/>
        </p:nvSpPr>
        <p:spPr>
          <a:xfrm>
            <a:off x="932507" y="220030"/>
            <a:ext cx="10203255" cy="400110"/>
          </a:xfrm>
          <a:prstGeom prst="rect">
            <a:avLst/>
          </a:prstGeom>
          <a:noFill/>
        </p:spPr>
        <p:txBody>
          <a:bodyPr wrap="square" rtlCol="0">
            <a:spAutoFit/>
          </a:bodyPr>
          <a:lstStyle/>
          <a:p>
            <a:pPr algn="ctr"/>
            <a:r>
              <a:rPr lang="es-ES" sz="2000" b="1" dirty="0">
                <a:solidFill>
                  <a:srgbClr val="B48900"/>
                </a:solidFill>
                <a:latin typeface="Lucida Handwriting" panose="03010101010101010101" pitchFamily="66" charset="0"/>
                <a:cs typeface="Arial" panose="020B0604020202020204" pitchFamily="34" charset="0"/>
              </a:rPr>
              <a:t>Ejercicios de Funcionamiento y Verificación en el Navegador</a:t>
            </a:r>
            <a:endParaRPr lang="es-MX" sz="2000" b="1" dirty="0">
              <a:solidFill>
                <a:srgbClr val="B48900"/>
              </a:solidFill>
              <a:latin typeface="Lucida Handwriting" panose="03010101010101010101" pitchFamily="66" charset="0"/>
              <a:cs typeface="Arial" panose="020B0604020202020204" pitchFamily="34" charset="0"/>
            </a:endParaRPr>
          </a:p>
        </p:txBody>
      </p:sp>
      <p:sp>
        <p:nvSpPr>
          <p:cNvPr id="4" name="CuadroTexto 3">
            <a:extLst>
              <a:ext uri="{FF2B5EF4-FFF2-40B4-BE49-F238E27FC236}">
                <a16:creationId xmlns:a16="http://schemas.microsoft.com/office/drawing/2014/main" id="{04ABDB00-6247-497B-A78E-50FD9ACE57F8}"/>
              </a:ext>
            </a:extLst>
          </p:cNvPr>
          <p:cNvSpPr txBox="1"/>
          <p:nvPr/>
        </p:nvSpPr>
        <p:spPr>
          <a:xfrm>
            <a:off x="516352" y="537063"/>
            <a:ext cx="11159296" cy="698717"/>
          </a:xfrm>
          <a:prstGeom prst="rect">
            <a:avLst/>
          </a:prstGeom>
          <a:noFill/>
        </p:spPr>
        <p:txBody>
          <a:bodyPr wrap="square" rtlCol="0">
            <a:spAutoFit/>
          </a:bodyPr>
          <a:lstStyle/>
          <a:p>
            <a:pPr algn="just">
              <a:lnSpc>
                <a:spcPct val="150000"/>
              </a:lnSpc>
            </a:pPr>
            <a:r>
              <a:rPr lang="es-ES" sz="1400">
                <a:latin typeface="Arial" panose="020B0604020202020204" pitchFamily="34" charset="0"/>
                <a:cs typeface="Arial" panose="020B0604020202020204" pitchFamily="34" charset="0"/>
              </a:rPr>
              <a:t>Para comprobar la viabilidad y robustez de la arquitectura implementada, se ejecutó el entorno local de desarrollo comprobando de extremo a extremo la sincronización de datos con Supabase.</a:t>
            </a:r>
            <a:endParaRPr lang="es-MX" sz="1400"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F36472FD-A895-4DF7-8627-3BF9BECAD35A}"/>
              </a:ext>
            </a:extLst>
          </p:cNvPr>
          <p:cNvPicPr/>
          <p:nvPr/>
        </p:nvPicPr>
        <p:blipFill>
          <a:blip r:embed="rId2"/>
          <a:stretch>
            <a:fillRect/>
          </a:stretch>
        </p:blipFill>
        <p:spPr>
          <a:xfrm>
            <a:off x="3090759" y="1697668"/>
            <a:ext cx="5612130" cy="3020060"/>
          </a:xfrm>
          <a:prstGeom prst="rect">
            <a:avLst/>
          </a:prstGeom>
        </p:spPr>
      </p:pic>
    </p:spTree>
    <p:extLst>
      <p:ext uri="{BB962C8B-B14F-4D97-AF65-F5344CB8AC3E}">
        <p14:creationId xmlns:p14="http://schemas.microsoft.com/office/powerpoint/2010/main" val="1053016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3425493-98DA-4BD4-9BA3-3892663E3D29}"/>
              </a:ext>
            </a:extLst>
          </p:cNvPr>
          <p:cNvSpPr txBox="1"/>
          <p:nvPr/>
        </p:nvSpPr>
        <p:spPr>
          <a:xfrm>
            <a:off x="1050202" y="211033"/>
            <a:ext cx="8908610" cy="461665"/>
          </a:xfrm>
          <a:prstGeom prst="rect">
            <a:avLst/>
          </a:prstGeom>
          <a:noFill/>
        </p:spPr>
        <p:txBody>
          <a:bodyPr wrap="square" rtlCol="0">
            <a:spAutoFit/>
          </a:bodyPr>
          <a:lstStyle/>
          <a:p>
            <a:pPr algn="ctr"/>
            <a:r>
              <a:rPr lang="es-ES" sz="2400" b="1">
                <a:solidFill>
                  <a:srgbClr val="B48900"/>
                </a:solidFill>
                <a:latin typeface="Lucida Handwriting" panose="03010101010101010101" pitchFamily="66" charset="0"/>
                <a:cs typeface="Arial" panose="020B0604020202020204" pitchFamily="34" charset="0"/>
              </a:rPr>
              <a:t>Módulo Público de Rutinas (Metodologías)</a:t>
            </a:r>
            <a:endParaRPr lang="es-MX" sz="2400" b="1" dirty="0">
              <a:solidFill>
                <a:srgbClr val="B48900"/>
              </a:solidFill>
              <a:latin typeface="Lucida Handwriting" panose="03010101010101010101" pitchFamily="66" charset="0"/>
              <a:cs typeface="Arial" panose="020B0604020202020204" pitchFamily="34" charset="0"/>
            </a:endParaRPr>
          </a:p>
        </p:txBody>
      </p:sp>
      <p:sp>
        <p:nvSpPr>
          <p:cNvPr id="4" name="CuadroTexto 3">
            <a:extLst>
              <a:ext uri="{FF2B5EF4-FFF2-40B4-BE49-F238E27FC236}">
                <a16:creationId xmlns:a16="http://schemas.microsoft.com/office/drawing/2014/main" id="{9643EB4A-9D0C-4A30-B015-B4699F60C9F6}"/>
              </a:ext>
            </a:extLst>
          </p:cNvPr>
          <p:cNvSpPr txBox="1"/>
          <p:nvPr/>
        </p:nvSpPr>
        <p:spPr>
          <a:xfrm>
            <a:off x="516352" y="672698"/>
            <a:ext cx="11159296" cy="872034"/>
          </a:xfrm>
          <a:prstGeom prst="rect">
            <a:avLst/>
          </a:prstGeom>
          <a:noFill/>
        </p:spPr>
        <p:txBody>
          <a:bodyPr wrap="square" rtlCol="0">
            <a:spAutoFit/>
          </a:bodyPr>
          <a:lstStyle/>
          <a:p>
            <a:pPr marL="6350" marR="53340" indent="-6350" algn="just">
              <a:lnSpc>
                <a:spcPct val="150000"/>
              </a:lnSpc>
              <a:spcAft>
                <a:spcPts val="785"/>
              </a:spcAft>
            </a:pPr>
            <a:r>
              <a:rPr lang="es-MX" sz="1800">
                <a:solidFill>
                  <a:srgbClr val="000000"/>
                </a:solidFill>
                <a:effectLst/>
                <a:latin typeface="Arial" panose="020B0604020202020204" pitchFamily="34" charset="0"/>
                <a:ea typeface="Arial" panose="020B0604020202020204" pitchFamily="34" charset="0"/>
              </a:rPr>
              <a:t>Acción: El usuario ingresa a la sección /rutinas de la barra de navegación y selecciona un plan (Principiante / Intermedio / Avanzado).</a:t>
            </a:r>
          </a:p>
        </p:txBody>
      </p:sp>
      <p:pic>
        <p:nvPicPr>
          <p:cNvPr id="5" name="Imagen 4">
            <a:extLst>
              <a:ext uri="{FF2B5EF4-FFF2-40B4-BE49-F238E27FC236}">
                <a16:creationId xmlns:a16="http://schemas.microsoft.com/office/drawing/2014/main" id="{3B3089B8-7619-4A3C-A41B-80531DBE3BA4}"/>
              </a:ext>
            </a:extLst>
          </p:cNvPr>
          <p:cNvPicPr/>
          <p:nvPr/>
        </p:nvPicPr>
        <p:blipFill>
          <a:blip r:embed="rId2"/>
          <a:stretch>
            <a:fillRect/>
          </a:stretch>
        </p:blipFill>
        <p:spPr>
          <a:xfrm>
            <a:off x="2346611" y="1851776"/>
            <a:ext cx="7498778" cy="4252045"/>
          </a:xfrm>
          <a:prstGeom prst="rect">
            <a:avLst/>
          </a:prstGeom>
        </p:spPr>
      </p:pic>
    </p:spTree>
    <p:extLst>
      <p:ext uri="{BB962C8B-B14F-4D97-AF65-F5344CB8AC3E}">
        <p14:creationId xmlns:p14="http://schemas.microsoft.com/office/powerpoint/2010/main" val="3510869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3425493-98DA-4BD4-9BA3-3892663E3D29}"/>
              </a:ext>
            </a:extLst>
          </p:cNvPr>
          <p:cNvSpPr txBox="1"/>
          <p:nvPr/>
        </p:nvSpPr>
        <p:spPr>
          <a:xfrm>
            <a:off x="1050202" y="211033"/>
            <a:ext cx="8908610" cy="461665"/>
          </a:xfrm>
          <a:prstGeom prst="rect">
            <a:avLst/>
          </a:prstGeom>
          <a:noFill/>
        </p:spPr>
        <p:txBody>
          <a:bodyPr wrap="square" rtlCol="0">
            <a:spAutoFit/>
          </a:bodyPr>
          <a:lstStyle/>
          <a:p>
            <a:pPr algn="ctr"/>
            <a:r>
              <a:rPr lang="es-ES" sz="2400" b="1">
                <a:solidFill>
                  <a:srgbClr val="B48900"/>
                </a:solidFill>
                <a:latin typeface="Lucida Handwriting" panose="03010101010101010101" pitchFamily="66" charset="0"/>
                <a:cs typeface="Arial" panose="020B0604020202020204" pitchFamily="34" charset="0"/>
              </a:rPr>
              <a:t>Módulo Público de Rutinas (Metodologías)</a:t>
            </a:r>
            <a:endParaRPr lang="es-MX" sz="2400" b="1" dirty="0">
              <a:solidFill>
                <a:srgbClr val="B48900"/>
              </a:solidFill>
              <a:latin typeface="Lucida Handwriting" panose="03010101010101010101" pitchFamily="66" charset="0"/>
              <a:cs typeface="Arial" panose="020B0604020202020204" pitchFamily="34" charset="0"/>
            </a:endParaRPr>
          </a:p>
        </p:txBody>
      </p:sp>
      <p:sp>
        <p:nvSpPr>
          <p:cNvPr id="4" name="CuadroTexto 3">
            <a:extLst>
              <a:ext uri="{FF2B5EF4-FFF2-40B4-BE49-F238E27FC236}">
                <a16:creationId xmlns:a16="http://schemas.microsoft.com/office/drawing/2014/main" id="{9643EB4A-9D0C-4A30-B015-B4699F60C9F6}"/>
              </a:ext>
            </a:extLst>
          </p:cNvPr>
          <p:cNvSpPr txBox="1"/>
          <p:nvPr/>
        </p:nvSpPr>
        <p:spPr>
          <a:xfrm>
            <a:off x="516352" y="672698"/>
            <a:ext cx="11159296" cy="1287532"/>
          </a:xfrm>
          <a:prstGeom prst="rect">
            <a:avLst/>
          </a:prstGeom>
          <a:noFill/>
        </p:spPr>
        <p:txBody>
          <a:bodyPr wrap="square" rtlCol="0">
            <a:spAutoFit/>
          </a:bodyPr>
          <a:lstStyle/>
          <a:p>
            <a:pPr marL="6350" marR="53340" indent="-6350" algn="just">
              <a:lnSpc>
                <a:spcPct val="150000"/>
              </a:lnSpc>
              <a:spcAft>
                <a:spcPts val="785"/>
              </a:spcAft>
            </a:pPr>
            <a:r>
              <a:rPr lang="es-MX" sz="1800">
                <a:solidFill>
                  <a:srgbClr val="000000"/>
                </a:solidFill>
                <a:effectLst/>
                <a:latin typeface="Arial" panose="020B0604020202020204" pitchFamily="34" charset="0"/>
                <a:ea typeface="Arial" panose="020B0604020202020204" pitchFamily="34" charset="0"/>
              </a:rPr>
              <a:t>Comprobación: La aplicación responde de forma inmediata renderizando en pantalla la estructura teórica programada y la distribución de días específicos de lunes a viernes sin requerir credenciales de acceso, protegiendo las descargas premium.</a:t>
            </a:r>
          </a:p>
        </p:txBody>
      </p:sp>
      <p:pic>
        <p:nvPicPr>
          <p:cNvPr id="7" name="Imagen 6">
            <a:extLst>
              <a:ext uri="{FF2B5EF4-FFF2-40B4-BE49-F238E27FC236}">
                <a16:creationId xmlns:a16="http://schemas.microsoft.com/office/drawing/2014/main" id="{BC565BAF-786D-4658-A6ED-514B5E4E28D8}"/>
              </a:ext>
            </a:extLst>
          </p:cNvPr>
          <p:cNvPicPr/>
          <p:nvPr/>
        </p:nvPicPr>
        <p:blipFill>
          <a:blip r:embed="rId2"/>
          <a:stretch>
            <a:fillRect/>
          </a:stretch>
        </p:blipFill>
        <p:spPr>
          <a:xfrm>
            <a:off x="2912452" y="2021664"/>
            <a:ext cx="6367095" cy="3847943"/>
          </a:xfrm>
          <a:prstGeom prst="rect">
            <a:avLst/>
          </a:prstGeom>
        </p:spPr>
      </p:pic>
    </p:spTree>
    <p:extLst>
      <p:ext uri="{BB962C8B-B14F-4D97-AF65-F5344CB8AC3E}">
        <p14:creationId xmlns:p14="http://schemas.microsoft.com/office/powerpoint/2010/main" val="808078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3425493-98DA-4BD4-9BA3-3892663E3D29}"/>
              </a:ext>
            </a:extLst>
          </p:cNvPr>
          <p:cNvSpPr txBox="1"/>
          <p:nvPr/>
        </p:nvSpPr>
        <p:spPr>
          <a:xfrm>
            <a:off x="1204111" y="211033"/>
            <a:ext cx="9877331" cy="400110"/>
          </a:xfrm>
          <a:prstGeom prst="rect">
            <a:avLst/>
          </a:prstGeom>
          <a:noFill/>
        </p:spPr>
        <p:txBody>
          <a:bodyPr wrap="square" rtlCol="0">
            <a:spAutoFit/>
          </a:bodyPr>
          <a:lstStyle/>
          <a:p>
            <a:pPr algn="ctr"/>
            <a:r>
              <a:rPr lang="es-ES" sz="2000" b="1" dirty="0">
                <a:solidFill>
                  <a:srgbClr val="B48900"/>
                </a:solidFill>
                <a:latin typeface="Lucida Handwriting" panose="03010101010101010101" pitchFamily="66" charset="0"/>
                <a:cs typeface="Arial" panose="020B0604020202020204" pitchFamily="34" charset="0"/>
              </a:rPr>
              <a:t>Panel del Administrador (Carga de Archivos locales al Storage)</a:t>
            </a:r>
            <a:endParaRPr lang="es-MX" sz="2000" b="1" dirty="0">
              <a:solidFill>
                <a:srgbClr val="B48900"/>
              </a:solidFill>
              <a:latin typeface="Lucida Handwriting" panose="03010101010101010101" pitchFamily="66" charset="0"/>
              <a:cs typeface="Arial" panose="020B0604020202020204" pitchFamily="34" charset="0"/>
            </a:endParaRPr>
          </a:p>
        </p:txBody>
      </p:sp>
      <p:sp>
        <p:nvSpPr>
          <p:cNvPr id="4" name="CuadroTexto 3">
            <a:extLst>
              <a:ext uri="{FF2B5EF4-FFF2-40B4-BE49-F238E27FC236}">
                <a16:creationId xmlns:a16="http://schemas.microsoft.com/office/drawing/2014/main" id="{9643EB4A-9D0C-4A30-B015-B4699F60C9F6}"/>
              </a:ext>
            </a:extLst>
          </p:cNvPr>
          <p:cNvSpPr txBox="1"/>
          <p:nvPr/>
        </p:nvSpPr>
        <p:spPr>
          <a:xfrm>
            <a:off x="516352" y="672698"/>
            <a:ext cx="11159296" cy="785343"/>
          </a:xfrm>
          <a:prstGeom prst="rect">
            <a:avLst/>
          </a:prstGeom>
          <a:noFill/>
        </p:spPr>
        <p:txBody>
          <a:bodyPr wrap="square" rtlCol="0">
            <a:spAutoFit/>
          </a:bodyPr>
          <a:lstStyle/>
          <a:p>
            <a:pPr algn="just">
              <a:lnSpc>
                <a:spcPct val="150000"/>
              </a:lnSpc>
              <a:spcAft>
                <a:spcPts val="800"/>
              </a:spcAft>
            </a:pPr>
            <a:r>
              <a:rPr lang="es-ES" sz="1600">
                <a:effectLst/>
                <a:latin typeface="Arial" panose="020B0604020202020204" pitchFamily="34" charset="0"/>
                <a:ea typeface="Calibri" panose="020F0502020204030204" pitchFamily="34" charset="0"/>
                <a:cs typeface="Times New Roman" panose="02020603050405020304" pitchFamily="18" charset="0"/>
              </a:rPr>
              <a:t>Acción: El Coach inicia sesión en su cuenta master, ingresa a la sección "Subir Rutinas", selecciona un archivo PDF original de su computadora, introduce el enfoque del día y presiona "Publicar Rutina Diaria".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 name="AutoShape 2">
            <a:extLst>
              <a:ext uri="{FF2B5EF4-FFF2-40B4-BE49-F238E27FC236}">
                <a16:creationId xmlns:a16="http://schemas.microsoft.com/office/drawing/2014/main" id="{7EB83983-007B-4FD8-AF2E-D08B68DB93B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7" name="Imagen 6">
            <a:extLst>
              <a:ext uri="{FF2B5EF4-FFF2-40B4-BE49-F238E27FC236}">
                <a16:creationId xmlns:a16="http://schemas.microsoft.com/office/drawing/2014/main" id="{59077850-9BE4-4BBC-AD1A-E047F7794634}"/>
              </a:ext>
            </a:extLst>
          </p:cNvPr>
          <p:cNvPicPr/>
          <p:nvPr/>
        </p:nvPicPr>
        <p:blipFill>
          <a:blip r:embed="rId2"/>
          <a:stretch>
            <a:fillRect/>
          </a:stretch>
        </p:blipFill>
        <p:spPr>
          <a:xfrm>
            <a:off x="3726519" y="1943100"/>
            <a:ext cx="5612130" cy="2971800"/>
          </a:xfrm>
          <a:prstGeom prst="rect">
            <a:avLst/>
          </a:prstGeom>
        </p:spPr>
      </p:pic>
    </p:spTree>
    <p:extLst>
      <p:ext uri="{BB962C8B-B14F-4D97-AF65-F5344CB8AC3E}">
        <p14:creationId xmlns:p14="http://schemas.microsoft.com/office/powerpoint/2010/main" val="4213864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3425493-98DA-4BD4-9BA3-3892663E3D29}"/>
              </a:ext>
            </a:extLst>
          </p:cNvPr>
          <p:cNvSpPr txBox="1"/>
          <p:nvPr/>
        </p:nvSpPr>
        <p:spPr>
          <a:xfrm>
            <a:off x="1204111" y="211033"/>
            <a:ext cx="9877331" cy="400110"/>
          </a:xfrm>
          <a:prstGeom prst="rect">
            <a:avLst/>
          </a:prstGeom>
          <a:noFill/>
        </p:spPr>
        <p:txBody>
          <a:bodyPr wrap="square" rtlCol="0">
            <a:spAutoFit/>
          </a:bodyPr>
          <a:lstStyle/>
          <a:p>
            <a:pPr algn="ctr"/>
            <a:r>
              <a:rPr lang="es-ES" sz="2000" b="1" dirty="0">
                <a:solidFill>
                  <a:srgbClr val="B48900"/>
                </a:solidFill>
                <a:latin typeface="Lucida Handwriting" panose="03010101010101010101" pitchFamily="66" charset="0"/>
                <a:cs typeface="Arial" panose="020B0604020202020204" pitchFamily="34" charset="0"/>
              </a:rPr>
              <a:t>Panel del Administrador (Carga de Archivos locales al Storage)</a:t>
            </a:r>
            <a:endParaRPr lang="es-MX" sz="2000" b="1" dirty="0">
              <a:solidFill>
                <a:srgbClr val="B48900"/>
              </a:solidFill>
              <a:latin typeface="Lucida Handwriting" panose="03010101010101010101" pitchFamily="66" charset="0"/>
              <a:cs typeface="Arial" panose="020B0604020202020204" pitchFamily="34" charset="0"/>
            </a:endParaRPr>
          </a:p>
        </p:txBody>
      </p:sp>
      <p:sp>
        <p:nvSpPr>
          <p:cNvPr id="4" name="CuadroTexto 3">
            <a:extLst>
              <a:ext uri="{FF2B5EF4-FFF2-40B4-BE49-F238E27FC236}">
                <a16:creationId xmlns:a16="http://schemas.microsoft.com/office/drawing/2014/main" id="{9643EB4A-9D0C-4A30-B015-B4699F60C9F6}"/>
              </a:ext>
            </a:extLst>
          </p:cNvPr>
          <p:cNvSpPr txBox="1"/>
          <p:nvPr/>
        </p:nvSpPr>
        <p:spPr>
          <a:xfrm>
            <a:off x="516352" y="672698"/>
            <a:ext cx="11159296" cy="1703030"/>
          </a:xfrm>
          <a:prstGeom prst="rect">
            <a:avLst/>
          </a:prstGeom>
          <a:noFill/>
        </p:spPr>
        <p:txBody>
          <a:bodyPr wrap="square" rtlCol="0">
            <a:spAutoFit/>
          </a:bodyPr>
          <a:lstStyle/>
          <a:p>
            <a:pPr marL="6350" marR="53340" indent="-6350" algn="just">
              <a:lnSpc>
                <a:spcPct val="150000"/>
              </a:lnSpc>
              <a:spcAft>
                <a:spcPts val="785"/>
              </a:spcAft>
            </a:pPr>
            <a:r>
              <a:rPr lang="es-MX" sz="1800">
                <a:solidFill>
                  <a:srgbClr val="000000"/>
                </a:solidFill>
                <a:effectLst/>
                <a:latin typeface="Arial" panose="020B0604020202020204" pitchFamily="34" charset="0"/>
                <a:ea typeface="Arial" panose="020B0604020202020204" pitchFamily="34" charset="0"/>
              </a:rPr>
              <a:t>Comprobación: El sistema purga automáticamente los caracteres extraños del nombre del documento, levanta una petición POST al Storage de Supabase, guarda el binario en el bucket público rutinas-pdf, adquiere la URL web pública y la inserta limpiamente en la tabla de base de datos relacional mostrando un banner de éxito verde.</a:t>
            </a:r>
          </a:p>
        </p:txBody>
      </p:sp>
      <p:sp>
        <p:nvSpPr>
          <p:cNvPr id="2" name="AutoShape 2">
            <a:extLst>
              <a:ext uri="{FF2B5EF4-FFF2-40B4-BE49-F238E27FC236}">
                <a16:creationId xmlns:a16="http://schemas.microsoft.com/office/drawing/2014/main" id="{7EB83983-007B-4FD8-AF2E-D08B68DB93B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5" name="Imagen 4">
            <a:extLst>
              <a:ext uri="{FF2B5EF4-FFF2-40B4-BE49-F238E27FC236}">
                <a16:creationId xmlns:a16="http://schemas.microsoft.com/office/drawing/2014/main" id="{6FFADFE5-C017-483B-A384-E1D2CA68CA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014" y="2740935"/>
            <a:ext cx="5602586" cy="2984145"/>
          </a:xfrm>
          <a:prstGeom prst="rect">
            <a:avLst/>
          </a:prstGeom>
        </p:spPr>
      </p:pic>
      <p:pic>
        <p:nvPicPr>
          <p:cNvPr id="9" name="Imagen 8">
            <a:extLst>
              <a:ext uri="{FF2B5EF4-FFF2-40B4-BE49-F238E27FC236}">
                <a16:creationId xmlns:a16="http://schemas.microsoft.com/office/drawing/2014/main" id="{19F90B1B-ABF7-4DE9-958B-BDEF35F043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37978" y="2740935"/>
            <a:ext cx="5619456" cy="2984145"/>
          </a:xfrm>
          <a:prstGeom prst="rect">
            <a:avLst/>
          </a:prstGeom>
        </p:spPr>
      </p:pic>
    </p:spTree>
    <p:extLst>
      <p:ext uri="{BB962C8B-B14F-4D97-AF65-F5344CB8AC3E}">
        <p14:creationId xmlns:p14="http://schemas.microsoft.com/office/powerpoint/2010/main" val="3272125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3425493-98DA-4BD4-9BA3-3892663E3D29}"/>
              </a:ext>
            </a:extLst>
          </p:cNvPr>
          <p:cNvSpPr txBox="1"/>
          <p:nvPr/>
        </p:nvSpPr>
        <p:spPr>
          <a:xfrm>
            <a:off x="1518799" y="211033"/>
            <a:ext cx="9569513" cy="461665"/>
          </a:xfrm>
          <a:prstGeom prst="rect">
            <a:avLst/>
          </a:prstGeom>
          <a:noFill/>
        </p:spPr>
        <p:txBody>
          <a:bodyPr wrap="square" rtlCol="0">
            <a:spAutoFit/>
          </a:bodyPr>
          <a:lstStyle/>
          <a:p>
            <a:pPr algn="ctr"/>
            <a:r>
              <a:rPr lang="es-ES" sz="2400" b="1">
                <a:solidFill>
                  <a:srgbClr val="B48900"/>
                </a:solidFill>
                <a:latin typeface="Lucida Handwriting" panose="03010101010101010101" pitchFamily="66" charset="0"/>
                <a:cs typeface="Arial" panose="020B0604020202020204" pitchFamily="34" charset="0"/>
              </a:rPr>
              <a:t>Dashboard del Atleta (Suscripción y Sincronización)</a:t>
            </a:r>
            <a:endParaRPr lang="es-MX" sz="2400" b="1" dirty="0">
              <a:solidFill>
                <a:srgbClr val="B48900"/>
              </a:solidFill>
              <a:latin typeface="Lucida Handwriting" panose="03010101010101010101" pitchFamily="66" charset="0"/>
              <a:cs typeface="Arial" panose="020B0604020202020204" pitchFamily="34" charset="0"/>
            </a:endParaRPr>
          </a:p>
        </p:txBody>
      </p:sp>
      <p:sp>
        <p:nvSpPr>
          <p:cNvPr id="5" name="CuadroTexto 4">
            <a:extLst>
              <a:ext uri="{FF2B5EF4-FFF2-40B4-BE49-F238E27FC236}">
                <a16:creationId xmlns:a16="http://schemas.microsoft.com/office/drawing/2014/main" id="{D8F41005-A1BE-4323-8854-868BECC3C72B}"/>
              </a:ext>
            </a:extLst>
          </p:cNvPr>
          <p:cNvSpPr txBox="1"/>
          <p:nvPr/>
        </p:nvSpPr>
        <p:spPr>
          <a:xfrm>
            <a:off x="1792584" y="784256"/>
            <a:ext cx="8850967" cy="456535"/>
          </a:xfrm>
          <a:prstGeom prst="rect">
            <a:avLst/>
          </a:prstGeom>
          <a:noFill/>
        </p:spPr>
        <p:txBody>
          <a:bodyPr wrap="square" rtlCol="0">
            <a:spAutoFit/>
          </a:bodyPr>
          <a:lstStyle/>
          <a:p>
            <a:pPr marL="6350" marR="53340" indent="-6350" algn="just">
              <a:lnSpc>
                <a:spcPct val="150000"/>
              </a:lnSpc>
              <a:spcAft>
                <a:spcPts val="785"/>
              </a:spcAft>
            </a:pPr>
            <a:r>
              <a:rPr lang="es-MX" sz="1800">
                <a:solidFill>
                  <a:srgbClr val="000000"/>
                </a:solidFill>
                <a:effectLst/>
                <a:latin typeface="Arial" panose="020B0604020202020204" pitchFamily="34" charset="0"/>
                <a:ea typeface="Arial" panose="020B0604020202020204" pitchFamily="34" charset="0"/>
              </a:rPr>
              <a:t>Acción: Un atleta inicia sesión con sus datos previamente registrados.</a:t>
            </a:r>
          </a:p>
        </p:txBody>
      </p:sp>
      <p:pic>
        <p:nvPicPr>
          <p:cNvPr id="7" name="Imagen 6">
            <a:extLst>
              <a:ext uri="{FF2B5EF4-FFF2-40B4-BE49-F238E27FC236}">
                <a16:creationId xmlns:a16="http://schemas.microsoft.com/office/drawing/2014/main" id="{947F42C9-65AD-477F-978A-F95CFEE4DCD0}"/>
              </a:ext>
            </a:extLst>
          </p:cNvPr>
          <p:cNvPicPr/>
          <p:nvPr/>
        </p:nvPicPr>
        <p:blipFill>
          <a:blip r:embed="rId2"/>
          <a:stretch>
            <a:fillRect/>
          </a:stretch>
        </p:blipFill>
        <p:spPr>
          <a:xfrm>
            <a:off x="1620570" y="1808885"/>
            <a:ext cx="8615372" cy="3894798"/>
          </a:xfrm>
          <a:prstGeom prst="rect">
            <a:avLst/>
          </a:prstGeom>
        </p:spPr>
      </p:pic>
    </p:spTree>
    <p:extLst>
      <p:ext uri="{BB962C8B-B14F-4D97-AF65-F5344CB8AC3E}">
        <p14:creationId xmlns:p14="http://schemas.microsoft.com/office/powerpoint/2010/main" val="1286385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3425493-98DA-4BD4-9BA3-3892663E3D29}"/>
              </a:ext>
            </a:extLst>
          </p:cNvPr>
          <p:cNvSpPr txBox="1"/>
          <p:nvPr/>
        </p:nvSpPr>
        <p:spPr>
          <a:xfrm>
            <a:off x="1518799" y="211033"/>
            <a:ext cx="9569513" cy="461665"/>
          </a:xfrm>
          <a:prstGeom prst="rect">
            <a:avLst/>
          </a:prstGeom>
          <a:noFill/>
        </p:spPr>
        <p:txBody>
          <a:bodyPr wrap="square" rtlCol="0">
            <a:spAutoFit/>
          </a:bodyPr>
          <a:lstStyle/>
          <a:p>
            <a:pPr algn="ctr"/>
            <a:r>
              <a:rPr lang="es-ES" sz="2400" b="1">
                <a:solidFill>
                  <a:srgbClr val="B48900"/>
                </a:solidFill>
                <a:latin typeface="Lucida Handwriting" panose="03010101010101010101" pitchFamily="66" charset="0"/>
                <a:cs typeface="Arial" panose="020B0604020202020204" pitchFamily="34" charset="0"/>
              </a:rPr>
              <a:t>Dashboard del Atleta (Suscripción y Sincronización)</a:t>
            </a:r>
            <a:endParaRPr lang="es-MX" sz="2400" b="1" dirty="0">
              <a:solidFill>
                <a:srgbClr val="B48900"/>
              </a:solidFill>
              <a:latin typeface="Lucida Handwriting" panose="03010101010101010101" pitchFamily="66" charset="0"/>
              <a:cs typeface="Arial" panose="020B0604020202020204" pitchFamily="34" charset="0"/>
            </a:endParaRPr>
          </a:p>
        </p:txBody>
      </p:sp>
      <p:sp>
        <p:nvSpPr>
          <p:cNvPr id="5" name="CuadroTexto 4">
            <a:extLst>
              <a:ext uri="{FF2B5EF4-FFF2-40B4-BE49-F238E27FC236}">
                <a16:creationId xmlns:a16="http://schemas.microsoft.com/office/drawing/2014/main" id="{D8F41005-A1BE-4323-8854-868BECC3C72B}"/>
              </a:ext>
            </a:extLst>
          </p:cNvPr>
          <p:cNvSpPr txBox="1"/>
          <p:nvPr/>
        </p:nvSpPr>
        <p:spPr>
          <a:xfrm>
            <a:off x="1792584" y="784256"/>
            <a:ext cx="8850967" cy="2118529"/>
          </a:xfrm>
          <a:prstGeom prst="rect">
            <a:avLst/>
          </a:prstGeom>
          <a:noFill/>
        </p:spPr>
        <p:txBody>
          <a:bodyPr wrap="square" rtlCol="0">
            <a:spAutoFit/>
          </a:bodyPr>
          <a:lstStyle/>
          <a:p>
            <a:pPr marL="6350" marR="53340" indent="-6350" algn="just">
              <a:lnSpc>
                <a:spcPct val="150000"/>
              </a:lnSpc>
              <a:spcAft>
                <a:spcPts val="785"/>
              </a:spcAft>
            </a:pPr>
            <a:r>
              <a:rPr lang="es-MX" sz="1800">
                <a:solidFill>
                  <a:srgbClr val="000000"/>
                </a:solidFill>
                <a:effectLst/>
                <a:latin typeface="Arial" panose="020B0604020202020204" pitchFamily="34" charset="0"/>
                <a:ea typeface="Arial" panose="020B0604020202020204" pitchFamily="34" charset="0"/>
              </a:rPr>
              <a:t>Comprobación: La vista del cliente lee los datos persistidos en el localStorage, desplegando de manera automática e individualizada su nombre en el menú superior, su nivel técnico asignado, y procesa la pestaña de Membresía calculando los 30 días de vigencia de su pago junto con la consulta asíncrona de sus rutinas personalizadas.</a:t>
            </a:r>
          </a:p>
        </p:txBody>
      </p:sp>
      <p:pic>
        <p:nvPicPr>
          <p:cNvPr id="8" name="Imagen 7">
            <a:extLst>
              <a:ext uri="{FF2B5EF4-FFF2-40B4-BE49-F238E27FC236}">
                <a16:creationId xmlns:a16="http://schemas.microsoft.com/office/drawing/2014/main" id="{2C72D68B-9978-476C-8091-6F92BB3CBAC3}"/>
              </a:ext>
            </a:extLst>
          </p:cNvPr>
          <p:cNvPicPr/>
          <p:nvPr/>
        </p:nvPicPr>
        <p:blipFill>
          <a:blip r:embed="rId2"/>
          <a:stretch>
            <a:fillRect/>
          </a:stretch>
        </p:blipFill>
        <p:spPr>
          <a:xfrm>
            <a:off x="6218067" y="3241719"/>
            <a:ext cx="5612130" cy="2981960"/>
          </a:xfrm>
          <a:prstGeom prst="rect">
            <a:avLst/>
          </a:prstGeom>
        </p:spPr>
      </p:pic>
      <p:pic>
        <p:nvPicPr>
          <p:cNvPr id="9" name="Imagen 8">
            <a:extLst>
              <a:ext uri="{FF2B5EF4-FFF2-40B4-BE49-F238E27FC236}">
                <a16:creationId xmlns:a16="http://schemas.microsoft.com/office/drawing/2014/main" id="{94FE4D32-BD44-4D66-B84A-E4BDB40A695A}"/>
              </a:ext>
            </a:extLst>
          </p:cNvPr>
          <p:cNvPicPr/>
          <p:nvPr/>
        </p:nvPicPr>
        <p:blipFill>
          <a:blip r:embed="rId3"/>
          <a:stretch>
            <a:fillRect/>
          </a:stretch>
        </p:blipFill>
        <p:spPr>
          <a:xfrm>
            <a:off x="280658" y="3241718"/>
            <a:ext cx="5612130" cy="2981961"/>
          </a:xfrm>
          <a:prstGeom prst="rect">
            <a:avLst/>
          </a:prstGeom>
        </p:spPr>
      </p:pic>
    </p:spTree>
    <p:extLst>
      <p:ext uri="{BB962C8B-B14F-4D97-AF65-F5344CB8AC3E}">
        <p14:creationId xmlns:p14="http://schemas.microsoft.com/office/powerpoint/2010/main" val="2420675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3425493-98DA-4BD4-9BA3-3892663E3D29}"/>
              </a:ext>
            </a:extLst>
          </p:cNvPr>
          <p:cNvSpPr txBox="1"/>
          <p:nvPr/>
        </p:nvSpPr>
        <p:spPr>
          <a:xfrm>
            <a:off x="1518799" y="211033"/>
            <a:ext cx="9569513" cy="461665"/>
          </a:xfrm>
          <a:prstGeom prst="rect">
            <a:avLst/>
          </a:prstGeom>
          <a:noFill/>
        </p:spPr>
        <p:txBody>
          <a:bodyPr wrap="square" rtlCol="0">
            <a:spAutoFit/>
          </a:bodyPr>
          <a:lstStyle/>
          <a:p>
            <a:pPr algn="ctr"/>
            <a:r>
              <a:rPr lang="es-ES" sz="2400" b="1">
                <a:solidFill>
                  <a:srgbClr val="B48900"/>
                </a:solidFill>
                <a:latin typeface="Lucida Handwriting" panose="03010101010101010101" pitchFamily="66" charset="0"/>
                <a:cs typeface="Arial" panose="020B0604020202020204" pitchFamily="34" charset="0"/>
              </a:rPr>
              <a:t>Módulo Público de Rutinas e Información</a:t>
            </a:r>
            <a:endParaRPr lang="es-MX" sz="2400" b="1" dirty="0">
              <a:solidFill>
                <a:srgbClr val="B48900"/>
              </a:solidFill>
              <a:latin typeface="Lucida Handwriting" panose="03010101010101010101" pitchFamily="66" charset="0"/>
              <a:cs typeface="Arial" panose="020B0604020202020204" pitchFamily="34" charset="0"/>
            </a:endParaRPr>
          </a:p>
        </p:txBody>
      </p:sp>
      <p:sp>
        <p:nvSpPr>
          <p:cNvPr id="5" name="CuadroTexto 4">
            <a:extLst>
              <a:ext uri="{FF2B5EF4-FFF2-40B4-BE49-F238E27FC236}">
                <a16:creationId xmlns:a16="http://schemas.microsoft.com/office/drawing/2014/main" id="{D8F41005-A1BE-4323-8854-868BECC3C72B}"/>
              </a:ext>
            </a:extLst>
          </p:cNvPr>
          <p:cNvSpPr txBox="1"/>
          <p:nvPr/>
        </p:nvSpPr>
        <p:spPr>
          <a:xfrm>
            <a:off x="1792584" y="784256"/>
            <a:ext cx="8850967" cy="2118529"/>
          </a:xfrm>
          <a:prstGeom prst="rect">
            <a:avLst/>
          </a:prstGeom>
          <a:noFill/>
        </p:spPr>
        <p:txBody>
          <a:bodyPr wrap="square" rtlCol="0">
            <a:spAutoFit/>
          </a:bodyPr>
          <a:lstStyle/>
          <a:p>
            <a:pPr marL="6350" marR="53340" indent="-6350" algn="just">
              <a:lnSpc>
                <a:spcPct val="150000"/>
              </a:lnSpc>
              <a:spcAft>
                <a:spcPts val="785"/>
              </a:spcAft>
            </a:pPr>
            <a:r>
              <a:rPr lang="es-MX" sz="1800">
                <a:solidFill>
                  <a:srgbClr val="000000"/>
                </a:solidFill>
                <a:effectLst/>
                <a:latin typeface="Arial" panose="020B0604020202020204" pitchFamily="34" charset="0"/>
                <a:ea typeface="Arial" panose="020B0604020202020204" pitchFamily="34" charset="0"/>
              </a:rPr>
              <a:t>La sección interactiva pública /rutinas opera bajo un esquema dinámico de selección de nivel (Principiante, Intermedio y Avanzado). Al interactuar con la interfaz, el sistema despliega la metodología y la distribución de grupos musculares correspondientes a la semana sin comprometer los archivos físicos de la base de datos.</a:t>
            </a:r>
          </a:p>
        </p:txBody>
      </p:sp>
      <p:pic>
        <p:nvPicPr>
          <p:cNvPr id="7" name="Imagen 6">
            <a:extLst>
              <a:ext uri="{FF2B5EF4-FFF2-40B4-BE49-F238E27FC236}">
                <a16:creationId xmlns:a16="http://schemas.microsoft.com/office/drawing/2014/main" id="{F9C870BA-7F20-4882-9676-146F215E7F3D}"/>
              </a:ext>
            </a:extLst>
          </p:cNvPr>
          <p:cNvPicPr/>
          <p:nvPr/>
        </p:nvPicPr>
        <p:blipFill>
          <a:blip r:embed="rId2"/>
          <a:stretch>
            <a:fillRect/>
          </a:stretch>
        </p:blipFill>
        <p:spPr>
          <a:xfrm>
            <a:off x="3063598" y="2902785"/>
            <a:ext cx="6551181" cy="3642870"/>
          </a:xfrm>
          <a:prstGeom prst="rect">
            <a:avLst/>
          </a:prstGeom>
        </p:spPr>
      </p:pic>
    </p:spTree>
    <p:extLst>
      <p:ext uri="{BB962C8B-B14F-4D97-AF65-F5344CB8AC3E}">
        <p14:creationId xmlns:p14="http://schemas.microsoft.com/office/powerpoint/2010/main" val="10024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3425493-98DA-4BD4-9BA3-3892663E3D29}"/>
              </a:ext>
            </a:extLst>
          </p:cNvPr>
          <p:cNvSpPr txBox="1"/>
          <p:nvPr/>
        </p:nvSpPr>
        <p:spPr>
          <a:xfrm>
            <a:off x="932507" y="211033"/>
            <a:ext cx="10155805" cy="461665"/>
          </a:xfrm>
          <a:prstGeom prst="rect">
            <a:avLst/>
          </a:prstGeom>
          <a:noFill/>
        </p:spPr>
        <p:txBody>
          <a:bodyPr wrap="square" rtlCol="0">
            <a:spAutoFit/>
          </a:bodyPr>
          <a:lstStyle/>
          <a:p>
            <a:pPr algn="ctr"/>
            <a:r>
              <a:rPr lang="es-ES" sz="2400" b="1">
                <a:solidFill>
                  <a:srgbClr val="B48900"/>
                </a:solidFill>
                <a:latin typeface="Lucida Handwriting" panose="03010101010101010101" pitchFamily="66" charset="0"/>
                <a:cs typeface="Arial" panose="020B0604020202020204" pitchFamily="34" charset="0"/>
              </a:rPr>
              <a:t>Panel del Administrador y Carga de Archivos (Storage)</a:t>
            </a:r>
            <a:endParaRPr lang="es-MX" sz="2400" b="1" dirty="0">
              <a:solidFill>
                <a:srgbClr val="B48900"/>
              </a:solidFill>
              <a:latin typeface="Lucida Handwriting" panose="03010101010101010101" pitchFamily="66" charset="0"/>
              <a:cs typeface="Arial" panose="020B0604020202020204" pitchFamily="34" charset="0"/>
            </a:endParaRPr>
          </a:p>
        </p:txBody>
      </p:sp>
      <p:sp>
        <p:nvSpPr>
          <p:cNvPr id="5" name="CuadroTexto 4">
            <a:extLst>
              <a:ext uri="{FF2B5EF4-FFF2-40B4-BE49-F238E27FC236}">
                <a16:creationId xmlns:a16="http://schemas.microsoft.com/office/drawing/2014/main" id="{D8F41005-A1BE-4323-8854-868BECC3C72B}"/>
              </a:ext>
            </a:extLst>
          </p:cNvPr>
          <p:cNvSpPr txBox="1"/>
          <p:nvPr/>
        </p:nvSpPr>
        <p:spPr>
          <a:xfrm>
            <a:off x="1792584" y="784256"/>
            <a:ext cx="8850967" cy="2534027"/>
          </a:xfrm>
          <a:prstGeom prst="rect">
            <a:avLst/>
          </a:prstGeom>
          <a:noFill/>
        </p:spPr>
        <p:txBody>
          <a:bodyPr wrap="square" rtlCol="0">
            <a:spAutoFit/>
          </a:bodyPr>
          <a:lstStyle/>
          <a:p>
            <a:pPr marL="6350" marR="53340" indent="-6350" algn="just">
              <a:lnSpc>
                <a:spcPct val="150000"/>
              </a:lnSpc>
              <a:spcAft>
                <a:spcPts val="785"/>
              </a:spcAft>
            </a:pPr>
            <a:r>
              <a:rPr lang="es-MX" sz="1800" dirty="0">
                <a:solidFill>
                  <a:srgbClr val="000000"/>
                </a:solidFill>
                <a:effectLst/>
                <a:latin typeface="Arial" panose="020B0604020202020204" pitchFamily="34" charset="0"/>
                <a:ea typeface="Arial" panose="020B0604020202020204" pitchFamily="34" charset="0"/>
              </a:rPr>
              <a:t>El perfil con rol de Coach cuenta con la capacidad de publicar entrenamientos semanales. El sistema procesa los archivos PDF cargados localmente desde la computadora, purga automáticamente caracteres especiales y espacios en blanco del nombre a nivel de código para evitar errores de API (</a:t>
            </a:r>
            <a:r>
              <a:rPr lang="es-MX" sz="1800" dirty="0" err="1">
                <a:solidFill>
                  <a:srgbClr val="000000"/>
                </a:solidFill>
                <a:effectLst/>
                <a:latin typeface="Arial" panose="020B0604020202020204" pitchFamily="34" charset="0"/>
                <a:ea typeface="Arial" panose="020B0604020202020204" pitchFamily="34" charset="0"/>
              </a:rPr>
              <a:t>Invalid</a:t>
            </a:r>
            <a:r>
              <a:rPr lang="es-MX" sz="1800" dirty="0">
                <a:solidFill>
                  <a:srgbClr val="000000"/>
                </a:solidFill>
                <a:effectLst/>
                <a:latin typeface="Arial" panose="020B0604020202020204" pitchFamily="34" charset="0"/>
                <a:ea typeface="Arial" panose="020B0604020202020204" pitchFamily="34" charset="0"/>
              </a:rPr>
              <a:t> </a:t>
            </a:r>
            <a:r>
              <a:rPr lang="es-MX" sz="1800" dirty="0" err="1">
                <a:solidFill>
                  <a:srgbClr val="000000"/>
                </a:solidFill>
                <a:effectLst/>
                <a:latin typeface="Arial" panose="020B0604020202020204" pitchFamily="34" charset="0"/>
                <a:ea typeface="Arial" panose="020B0604020202020204" pitchFamily="34" charset="0"/>
              </a:rPr>
              <a:t>key</a:t>
            </a:r>
            <a:r>
              <a:rPr lang="es-MX" sz="1800" dirty="0">
                <a:solidFill>
                  <a:srgbClr val="000000"/>
                </a:solidFill>
                <a:effectLst/>
                <a:latin typeface="Arial" panose="020B0604020202020204" pitchFamily="34" charset="0"/>
                <a:ea typeface="Arial" panose="020B0604020202020204" pitchFamily="34" charset="0"/>
              </a:rPr>
              <a:t>), aloja el binario en el </a:t>
            </a:r>
            <a:r>
              <a:rPr lang="es-MX" sz="1800" dirty="0" err="1">
                <a:solidFill>
                  <a:srgbClr val="000000"/>
                </a:solidFill>
                <a:effectLst/>
                <a:latin typeface="Arial" panose="020B0604020202020204" pitchFamily="34" charset="0"/>
                <a:ea typeface="Arial" panose="020B0604020202020204" pitchFamily="34" charset="0"/>
              </a:rPr>
              <a:t>bucket</a:t>
            </a:r>
            <a:r>
              <a:rPr lang="es-MX" sz="1800" dirty="0">
                <a:solidFill>
                  <a:srgbClr val="000000"/>
                </a:solidFill>
                <a:effectLst/>
                <a:latin typeface="Arial" panose="020B0604020202020204" pitchFamily="34" charset="0"/>
                <a:ea typeface="Arial" panose="020B0604020202020204" pitchFamily="34" charset="0"/>
              </a:rPr>
              <a:t> público de </a:t>
            </a:r>
            <a:r>
              <a:rPr lang="es-MX" sz="1800" dirty="0" err="1">
                <a:solidFill>
                  <a:srgbClr val="000000"/>
                </a:solidFill>
                <a:effectLst/>
                <a:latin typeface="Arial" panose="020B0604020202020204" pitchFamily="34" charset="0"/>
                <a:ea typeface="Arial" panose="020B0604020202020204" pitchFamily="34" charset="0"/>
              </a:rPr>
              <a:t>Supabase</a:t>
            </a:r>
            <a:r>
              <a:rPr lang="es-MX" sz="1800" dirty="0">
                <a:solidFill>
                  <a:srgbClr val="000000"/>
                </a:solidFill>
                <a:effectLst/>
                <a:latin typeface="Arial" panose="020B0604020202020204" pitchFamily="34" charset="0"/>
                <a:ea typeface="Arial" panose="020B0604020202020204" pitchFamily="34" charset="0"/>
              </a:rPr>
              <a:t> y asocia la URL resultante con un registro relacional en la tabla.</a:t>
            </a:r>
          </a:p>
        </p:txBody>
      </p:sp>
      <p:pic>
        <p:nvPicPr>
          <p:cNvPr id="8" name="Imagen 7">
            <a:extLst>
              <a:ext uri="{FF2B5EF4-FFF2-40B4-BE49-F238E27FC236}">
                <a16:creationId xmlns:a16="http://schemas.microsoft.com/office/drawing/2014/main" id="{006C7218-6977-43C6-A1DA-B7F31F896C98}"/>
              </a:ext>
            </a:extLst>
          </p:cNvPr>
          <p:cNvPicPr/>
          <p:nvPr/>
        </p:nvPicPr>
        <p:blipFill>
          <a:blip r:embed="rId2"/>
          <a:stretch>
            <a:fillRect/>
          </a:stretch>
        </p:blipFill>
        <p:spPr>
          <a:xfrm>
            <a:off x="398279" y="3377318"/>
            <a:ext cx="5612130" cy="2994660"/>
          </a:xfrm>
          <a:prstGeom prst="rect">
            <a:avLst/>
          </a:prstGeom>
        </p:spPr>
      </p:pic>
      <p:pic>
        <p:nvPicPr>
          <p:cNvPr id="3" name="Imagen 2">
            <a:extLst>
              <a:ext uri="{FF2B5EF4-FFF2-40B4-BE49-F238E27FC236}">
                <a16:creationId xmlns:a16="http://schemas.microsoft.com/office/drawing/2014/main" id="{984D7BCE-C65C-4BD5-AFAD-C5A4CD9FB1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429000"/>
            <a:ext cx="5622327" cy="2994660"/>
          </a:xfrm>
          <a:prstGeom prst="rect">
            <a:avLst/>
          </a:prstGeom>
        </p:spPr>
      </p:pic>
    </p:spTree>
    <p:extLst>
      <p:ext uri="{BB962C8B-B14F-4D97-AF65-F5344CB8AC3E}">
        <p14:creationId xmlns:p14="http://schemas.microsoft.com/office/powerpoint/2010/main" val="2131296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3425493-98DA-4BD4-9BA3-3892663E3D29}"/>
              </a:ext>
            </a:extLst>
          </p:cNvPr>
          <p:cNvSpPr txBox="1"/>
          <p:nvPr/>
        </p:nvSpPr>
        <p:spPr>
          <a:xfrm>
            <a:off x="1518799" y="211033"/>
            <a:ext cx="9569513" cy="461665"/>
          </a:xfrm>
          <a:prstGeom prst="rect">
            <a:avLst/>
          </a:prstGeom>
          <a:noFill/>
        </p:spPr>
        <p:txBody>
          <a:bodyPr wrap="square" rtlCol="0">
            <a:spAutoFit/>
          </a:bodyPr>
          <a:lstStyle/>
          <a:p>
            <a:pPr algn="ctr"/>
            <a:r>
              <a:rPr lang="es-ES" sz="2400" b="1">
                <a:solidFill>
                  <a:srgbClr val="B48900"/>
                </a:solidFill>
                <a:latin typeface="Lucida Handwriting" panose="03010101010101010101" pitchFamily="66" charset="0"/>
                <a:cs typeface="Arial" panose="020B0604020202020204" pitchFamily="34" charset="0"/>
              </a:rPr>
              <a:t>Dashboard de Usuario y Control de Membresía</a:t>
            </a:r>
            <a:endParaRPr lang="es-MX" sz="2400" b="1" dirty="0">
              <a:solidFill>
                <a:srgbClr val="B48900"/>
              </a:solidFill>
              <a:latin typeface="Lucida Handwriting" panose="03010101010101010101" pitchFamily="66" charset="0"/>
              <a:cs typeface="Arial" panose="020B0604020202020204" pitchFamily="34" charset="0"/>
            </a:endParaRPr>
          </a:p>
        </p:txBody>
      </p:sp>
      <p:sp>
        <p:nvSpPr>
          <p:cNvPr id="5" name="CuadroTexto 4">
            <a:extLst>
              <a:ext uri="{FF2B5EF4-FFF2-40B4-BE49-F238E27FC236}">
                <a16:creationId xmlns:a16="http://schemas.microsoft.com/office/drawing/2014/main" id="{D8F41005-A1BE-4323-8854-868BECC3C72B}"/>
              </a:ext>
            </a:extLst>
          </p:cNvPr>
          <p:cNvSpPr txBox="1"/>
          <p:nvPr/>
        </p:nvSpPr>
        <p:spPr>
          <a:xfrm>
            <a:off x="1792584" y="784256"/>
            <a:ext cx="8850967" cy="1703030"/>
          </a:xfrm>
          <a:prstGeom prst="rect">
            <a:avLst/>
          </a:prstGeom>
          <a:noFill/>
        </p:spPr>
        <p:txBody>
          <a:bodyPr wrap="square" rtlCol="0">
            <a:spAutoFit/>
          </a:bodyPr>
          <a:lstStyle/>
          <a:p>
            <a:pPr marL="6350" marR="53340" indent="-6350" algn="just">
              <a:lnSpc>
                <a:spcPct val="150000"/>
              </a:lnSpc>
              <a:spcAft>
                <a:spcPts val="785"/>
              </a:spcAft>
            </a:pPr>
            <a:r>
              <a:rPr lang="es-MX" sz="1800">
                <a:solidFill>
                  <a:srgbClr val="000000"/>
                </a:solidFill>
                <a:effectLst/>
                <a:latin typeface="Arial" panose="020B0604020202020204" pitchFamily="34" charset="0"/>
                <a:ea typeface="Arial" panose="020B0604020202020204" pitchFamily="34" charset="0"/>
              </a:rPr>
              <a:t>Al iniciar sesión, la vista del atleta extrae la información persistida y renderiza de manera limpia el módulo de Membresía, mostrando de manera matemática la Fecha de Inicio y calculando la Fecha de Próximo Vencimiento (ciclo de 30 días) para un control estricto de las mensualidades, removiendo estadísticas genéricas previas.</a:t>
            </a:r>
          </a:p>
        </p:txBody>
      </p:sp>
      <p:pic>
        <p:nvPicPr>
          <p:cNvPr id="8" name="Imagen 7">
            <a:extLst>
              <a:ext uri="{FF2B5EF4-FFF2-40B4-BE49-F238E27FC236}">
                <a16:creationId xmlns:a16="http://schemas.microsoft.com/office/drawing/2014/main" id="{31B570B4-0495-4B00-BA5C-84237C772092}"/>
              </a:ext>
            </a:extLst>
          </p:cNvPr>
          <p:cNvPicPr/>
          <p:nvPr/>
        </p:nvPicPr>
        <p:blipFill>
          <a:blip r:embed="rId2"/>
          <a:stretch>
            <a:fillRect/>
          </a:stretch>
        </p:blipFill>
        <p:spPr>
          <a:xfrm>
            <a:off x="3000224" y="2614688"/>
            <a:ext cx="6614556" cy="3315332"/>
          </a:xfrm>
          <a:prstGeom prst="rect">
            <a:avLst/>
          </a:prstGeom>
        </p:spPr>
      </p:pic>
    </p:spTree>
    <p:extLst>
      <p:ext uri="{BB962C8B-B14F-4D97-AF65-F5344CB8AC3E}">
        <p14:creationId xmlns:p14="http://schemas.microsoft.com/office/powerpoint/2010/main" val="3584468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1EF9F5-AD65-40E6-A7EA-0157D52FC819}"/>
              </a:ext>
            </a:extLst>
          </p:cNvPr>
          <p:cNvSpPr>
            <a:spLocks noGrp="1"/>
          </p:cNvSpPr>
          <p:nvPr>
            <p:ph type="title"/>
          </p:nvPr>
        </p:nvSpPr>
        <p:spPr>
          <a:xfrm>
            <a:off x="3322504" y="380075"/>
            <a:ext cx="5546986" cy="1448685"/>
          </a:xfrm>
        </p:spPr>
        <p:txBody>
          <a:bodyPr>
            <a:normAutofit/>
          </a:bodyPr>
          <a:lstStyle/>
          <a:p>
            <a:pPr algn="ctr"/>
            <a:r>
              <a:rPr lang="es-MX" sz="6000" dirty="0">
                <a:solidFill>
                  <a:srgbClr val="002060"/>
                </a:solidFill>
                <a:latin typeface="Algerian" panose="04020705040A02060702" pitchFamily="82" charset="0"/>
              </a:rPr>
              <a:t>Conclusión</a:t>
            </a:r>
          </a:p>
        </p:txBody>
      </p:sp>
      <p:sp>
        <p:nvSpPr>
          <p:cNvPr id="3" name="CuadroTexto 2">
            <a:extLst>
              <a:ext uri="{FF2B5EF4-FFF2-40B4-BE49-F238E27FC236}">
                <a16:creationId xmlns:a16="http://schemas.microsoft.com/office/drawing/2014/main" id="{36F7972C-2346-4203-BDA8-07E02874CEEA}"/>
              </a:ext>
            </a:extLst>
          </p:cNvPr>
          <p:cNvSpPr txBox="1"/>
          <p:nvPr/>
        </p:nvSpPr>
        <p:spPr>
          <a:xfrm>
            <a:off x="620415" y="1662441"/>
            <a:ext cx="10951164" cy="2534027"/>
          </a:xfrm>
          <a:prstGeom prst="rect">
            <a:avLst/>
          </a:prstGeom>
          <a:noFill/>
        </p:spPr>
        <p:txBody>
          <a:bodyPr wrap="square" rtlCol="0">
            <a:spAutoFit/>
          </a:bodyPr>
          <a:lstStyle/>
          <a:p>
            <a:pPr marL="6350" marR="53340" indent="-6350" algn="just">
              <a:lnSpc>
                <a:spcPct val="150000"/>
              </a:lnSpc>
            </a:pPr>
            <a:r>
              <a:rPr lang="es-MX" sz="1800" dirty="0">
                <a:solidFill>
                  <a:srgbClr val="000000"/>
                </a:solidFill>
                <a:effectLst/>
                <a:latin typeface="Arial" panose="020B0604020202020204" pitchFamily="34" charset="0"/>
                <a:ea typeface="Arial" panose="020B0604020202020204" pitchFamily="34" charset="0"/>
              </a:rPr>
              <a:t>La culminación de esta etapa representa un hito crítico en el desarrollo de </a:t>
            </a:r>
            <a:r>
              <a:rPr lang="es-MX" sz="1800" dirty="0" err="1">
                <a:solidFill>
                  <a:srgbClr val="000000"/>
                </a:solidFill>
                <a:effectLst/>
                <a:latin typeface="Arial" panose="020B0604020202020204" pitchFamily="34" charset="0"/>
                <a:ea typeface="Arial" panose="020B0604020202020204" pitchFamily="34" charset="0"/>
              </a:rPr>
              <a:t>GymPro</a:t>
            </a:r>
            <a:r>
              <a:rPr lang="es-MX" sz="1800" dirty="0">
                <a:solidFill>
                  <a:srgbClr val="000000"/>
                </a:solidFill>
                <a:effectLst/>
                <a:latin typeface="Arial" panose="020B0604020202020204" pitchFamily="34" charset="0"/>
                <a:ea typeface="Arial" panose="020B0604020202020204" pitchFamily="34" charset="0"/>
              </a:rPr>
              <a:t>. Se logró establecer un canal de comunicación robusto y asíncrono con la base de datos, garantizando que las operaciones de inserción y consulta se ejecuten en milisegundos. La reestructuración de la interfaz del administrador en pestañas dinámicas y la protección de los documentos descargables en la zona pública demuestran un software alineado a reglas de negocio del mundo real, donde el contenido de valor queda resguardado exclusivamente para usuarios con pagos vigentes.</a:t>
            </a:r>
          </a:p>
        </p:txBody>
      </p:sp>
    </p:spTree>
    <p:extLst>
      <p:ext uri="{BB962C8B-B14F-4D97-AF65-F5344CB8AC3E}">
        <p14:creationId xmlns:p14="http://schemas.microsoft.com/office/powerpoint/2010/main" val="53076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1EF9F5-AD65-40E6-A7EA-0157D52FC819}"/>
              </a:ext>
            </a:extLst>
          </p:cNvPr>
          <p:cNvSpPr>
            <a:spLocks noGrp="1"/>
          </p:cNvSpPr>
          <p:nvPr>
            <p:ph type="title"/>
          </p:nvPr>
        </p:nvSpPr>
        <p:spPr>
          <a:xfrm>
            <a:off x="2245259" y="380075"/>
            <a:ext cx="6624231" cy="1448685"/>
          </a:xfrm>
        </p:spPr>
        <p:txBody>
          <a:bodyPr>
            <a:normAutofit fontScale="90000"/>
          </a:bodyPr>
          <a:lstStyle/>
          <a:p>
            <a:pPr algn="ctr"/>
            <a:r>
              <a:rPr lang="es-MX" sz="6000" dirty="0">
                <a:solidFill>
                  <a:srgbClr val="002060"/>
                </a:solidFill>
                <a:latin typeface="Algerian" panose="04020705040A02060702" pitchFamily="82" charset="0"/>
              </a:rPr>
              <a:t>Repositorio en </a:t>
            </a:r>
            <a:r>
              <a:rPr lang="es-MX" sz="6000" dirty="0" err="1">
                <a:solidFill>
                  <a:srgbClr val="002060"/>
                </a:solidFill>
                <a:latin typeface="Algerian" panose="04020705040A02060702" pitchFamily="82" charset="0"/>
              </a:rPr>
              <a:t>git</a:t>
            </a:r>
            <a:endParaRPr lang="es-MX" sz="6000" dirty="0">
              <a:solidFill>
                <a:srgbClr val="002060"/>
              </a:solidFill>
              <a:latin typeface="Algerian" panose="04020705040A02060702" pitchFamily="82" charset="0"/>
            </a:endParaRPr>
          </a:p>
        </p:txBody>
      </p:sp>
      <p:sp>
        <p:nvSpPr>
          <p:cNvPr id="3" name="CuadroTexto 2">
            <a:extLst>
              <a:ext uri="{FF2B5EF4-FFF2-40B4-BE49-F238E27FC236}">
                <a16:creationId xmlns:a16="http://schemas.microsoft.com/office/drawing/2014/main" id="{36F7972C-2346-4203-BDA8-07E02874CEEA}"/>
              </a:ext>
            </a:extLst>
          </p:cNvPr>
          <p:cNvSpPr txBox="1"/>
          <p:nvPr/>
        </p:nvSpPr>
        <p:spPr>
          <a:xfrm>
            <a:off x="3241141" y="1662441"/>
            <a:ext cx="5260063" cy="456535"/>
          </a:xfrm>
          <a:prstGeom prst="rect">
            <a:avLst/>
          </a:prstGeom>
          <a:noFill/>
        </p:spPr>
        <p:txBody>
          <a:bodyPr wrap="square" rtlCol="0">
            <a:spAutoFit/>
          </a:bodyPr>
          <a:lstStyle/>
          <a:p>
            <a:pPr marL="6350" marR="53340" indent="-6350" algn="just">
              <a:lnSpc>
                <a:spcPct val="150000"/>
              </a:lnSpc>
            </a:pPr>
            <a:r>
              <a:rPr lang="es-MX" sz="1800">
                <a:solidFill>
                  <a:srgbClr val="000000"/>
                </a:solidFill>
                <a:effectLst/>
                <a:latin typeface="Arial" panose="020B0604020202020204" pitchFamily="34" charset="0"/>
                <a:ea typeface="Arial" panose="020B0604020202020204" pitchFamily="34" charset="0"/>
              </a:rPr>
              <a:t>https://github.com/XLe6310597/PW-TEMA-4.git</a:t>
            </a:r>
            <a:endParaRPr lang="es-MX" sz="1800" dirty="0">
              <a:solidFill>
                <a:srgbClr val="000000"/>
              </a:solidFill>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182973741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2910</TotalTime>
  <Words>929</Words>
  <Application>Microsoft Office PowerPoint</Application>
  <PresentationFormat>Panorámica</PresentationFormat>
  <Paragraphs>41</Paragraphs>
  <Slides>15</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15</vt:i4>
      </vt:variant>
    </vt:vector>
  </HeadingPairs>
  <TitlesOfParts>
    <vt:vector size="21" baseType="lpstr">
      <vt:lpstr>Algerian</vt:lpstr>
      <vt:lpstr>Arial</vt:lpstr>
      <vt:lpstr>Calibri</vt:lpstr>
      <vt:lpstr>Calibri Light</vt:lpstr>
      <vt:lpstr>Lucida Handwriting</vt:lpstr>
      <vt:lpstr>Tema de Office</vt:lpstr>
      <vt:lpstr>Presentación de PowerPoint</vt:lpstr>
      <vt:lpstr>Introducción</vt:lpstr>
      <vt:lpstr>Justificación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Conclusión</vt:lpstr>
      <vt:lpstr>Repositorio en git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
  <cp:lastModifiedBy>Aldrich Humberto Irena Ramirez</cp:lastModifiedBy>
  <cp:revision>266</cp:revision>
  <dcterms:created xsi:type="dcterms:W3CDTF">2025-09-19T02:13:47Z</dcterms:created>
  <dcterms:modified xsi:type="dcterms:W3CDTF">2026-06-14T07:01:22Z</dcterms:modified>
</cp:coreProperties>
</file>